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8" r:id="rId2"/>
    <p:sldId id="262" r:id="rId3"/>
    <p:sldId id="279" r:id="rId4"/>
    <p:sldId id="274" r:id="rId5"/>
    <p:sldId id="267" r:id="rId6"/>
    <p:sldId id="268" r:id="rId7"/>
    <p:sldId id="270" r:id="rId8"/>
    <p:sldId id="280" r:id="rId9"/>
    <p:sldId id="273" r:id="rId10"/>
    <p:sldId id="275" r:id="rId11"/>
    <p:sldId id="272" r:id="rId12"/>
    <p:sldId id="281" r:id="rId13"/>
    <p:sldId id="269" r:id="rId14"/>
    <p:sldId id="276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929F9F4-4A8F-4326-A1B4-22849713DDAB}" styleName="深色樣式 1 - 輔色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 autoAdjust="0"/>
    <p:restoredTop sz="95679" autoAdjust="0"/>
  </p:normalViewPr>
  <p:slideViewPr>
    <p:cSldViewPr snapToGrid="0">
      <p:cViewPr varScale="1">
        <p:scale>
          <a:sx n="83" d="100"/>
          <a:sy n="83" d="100"/>
        </p:scale>
        <p:origin x="-749" y="-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volum\Downloads\&#38534;&#24311;-&#29983;&#29986;&#26085;&#22577;&#34920;-2023&#29256;%20(2)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volum\Downloads\&#38534;&#24311;-&#29983;&#29986;&#26085;&#22577;&#34920;-2023&#29256;%20(2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pPr>
            <a:r>
              <a:rPr lang="en-US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C2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生產良率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工作表1!$C$17:$C$18</c:f>
              <c:strCache>
                <c:ptCount val="1"/>
                <c:pt idx="0">
                  <c:v>C2生產良瘵 良率</c:v>
                </c:pt>
              </c:strCache>
            </c:strRef>
          </c:tx>
          <c:marker>
            <c:symbol val="none"/>
          </c:marker>
          <c:cat>
            <c:numRef>
              <c:f>工作表1!$B$19:$B$32</c:f>
              <c:numCache>
                <c:formatCode>0_ </c:formatCode>
                <c:ptCount val="14"/>
                <c:pt idx="0">
                  <c:v>202310120014</c:v>
                </c:pt>
                <c:pt idx="1">
                  <c:v>202310120015</c:v>
                </c:pt>
                <c:pt idx="2">
                  <c:v>202310120014</c:v>
                </c:pt>
                <c:pt idx="3">
                  <c:v>202310120015</c:v>
                </c:pt>
                <c:pt idx="4">
                  <c:v>202310120014</c:v>
                </c:pt>
                <c:pt idx="5">
                  <c:v>202310120015</c:v>
                </c:pt>
                <c:pt idx="6">
                  <c:v>202310120014</c:v>
                </c:pt>
                <c:pt idx="7">
                  <c:v>202310120015</c:v>
                </c:pt>
                <c:pt idx="8">
                  <c:v>202310120014</c:v>
                </c:pt>
                <c:pt idx="9">
                  <c:v>202310120015</c:v>
                </c:pt>
                <c:pt idx="10">
                  <c:v>202310250011</c:v>
                </c:pt>
                <c:pt idx="11">
                  <c:v>202310250012</c:v>
                </c:pt>
                <c:pt idx="12">
                  <c:v>202310250011</c:v>
                </c:pt>
                <c:pt idx="13">
                  <c:v>202310250012</c:v>
                </c:pt>
              </c:numCache>
            </c:numRef>
          </c:cat>
          <c:val>
            <c:numRef>
              <c:f>工作表1!$C$19:$C$32</c:f>
              <c:numCache>
                <c:formatCode>0.00%</c:formatCode>
                <c:ptCount val="14"/>
                <c:pt idx="0">
                  <c:v>0.6216216216216216</c:v>
                </c:pt>
                <c:pt idx="1">
                  <c:v>0.6330275229357798</c:v>
                </c:pt>
                <c:pt idx="2">
                  <c:v>0.73333333333333328</c:v>
                </c:pt>
                <c:pt idx="3">
                  <c:v>0.79640718562874246</c:v>
                </c:pt>
                <c:pt idx="4">
                  <c:v>0.67924528301886788</c:v>
                </c:pt>
                <c:pt idx="5">
                  <c:v>0.70560747663551404</c:v>
                </c:pt>
                <c:pt idx="6">
                  <c:v>0.75</c:v>
                </c:pt>
                <c:pt idx="7">
                  <c:v>0.8214285714285714</c:v>
                </c:pt>
                <c:pt idx="8">
                  <c:v>0.94285714285714284</c:v>
                </c:pt>
                <c:pt idx="9">
                  <c:v>0.82857142857142863</c:v>
                </c:pt>
                <c:pt idx="10">
                  <c:v>0.96840307429547401</c:v>
                </c:pt>
                <c:pt idx="11">
                  <c:v>0.96840307429547401</c:v>
                </c:pt>
                <c:pt idx="12">
                  <c:v>0.97232008052340213</c:v>
                </c:pt>
                <c:pt idx="13">
                  <c:v>0.97232008052340213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5531008"/>
        <c:axId val="164694272"/>
      </c:lineChart>
      <c:catAx>
        <c:axId val="135531008"/>
        <c:scaling>
          <c:orientation val="minMax"/>
        </c:scaling>
        <c:delete val="0"/>
        <c:axPos val="b"/>
        <c:numFmt formatCode="0_ " sourceLinked="1"/>
        <c:majorTickMark val="out"/>
        <c:minorTickMark val="none"/>
        <c:tickLblPos val="nextTo"/>
        <c:crossAx val="164694272"/>
        <c:crosses val="autoZero"/>
        <c:auto val="1"/>
        <c:lblAlgn val="ctr"/>
        <c:lblOffset val="100"/>
        <c:noMultiLvlLbl val="0"/>
      </c:catAx>
      <c:valAx>
        <c:axId val="164694272"/>
        <c:scaling>
          <c:orientation val="minMax"/>
        </c:scaling>
        <c:delete val="0"/>
        <c:axPos val="l"/>
        <c:majorGridlines/>
        <c:numFmt formatCode="0.00%" sourceLinked="1"/>
        <c:majorTickMark val="out"/>
        <c:minorTickMark val="none"/>
        <c:tickLblPos val="nextTo"/>
        <c:crossAx val="135531008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>
              <a:latin typeface="微軟正黑體" panose="020B0604030504040204" pitchFamily="34" charset="-120"/>
              <a:ea typeface="微軟正黑體" panose="020B0604030504040204" pitchFamily="34" charset="-120"/>
            </a:defRPr>
          </a:pPr>
          <a:endParaRPr lang="zh-TW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pPr>
            <a:r>
              <a:rPr lang="en-US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C2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生產良率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0430527666273148"/>
          <c:y val="0.17979899737252178"/>
          <c:w val="0.62298928702193779"/>
          <c:h val="0.59608188015966568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工作表1!$C$17:$C$18</c:f>
              <c:strCache>
                <c:ptCount val="1"/>
                <c:pt idx="0">
                  <c:v>C2生產良瘵 良率</c:v>
                </c:pt>
              </c:strCache>
            </c:strRef>
          </c:tx>
          <c:marker>
            <c:symbol val="none"/>
          </c:marker>
          <c:cat>
            <c:numRef>
              <c:f>工作表1!$B$19:$B$32</c:f>
              <c:numCache>
                <c:formatCode>0_ </c:formatCode>
                <c:ptCount val="14"/>
                <c:pt idx="0">
                  <c:v>202310120014</c:v>
                </c:pt>
                <c:pt idx="1">
                  <c:v>202310120015</c:v>
                </c:pt>
                <c:pt idx="2">
                  <c:v>202310120014</c:v>
                </c:pt>
                <c:pt idx="3">
                  <c:v>202310120015</c:v>
                </c:pt>
                <c:pt idx="4">
                  <c:v>202310120014</c:v>
                </c:pt>
                <c:pt idx="5">
                  <c:v>202310120015</c:v>
                </c:pt>
                <c:pt idx="6">
                  <c:v>202310120014</c:v>
                </c:pt>
                <c:pt idx="7">
                  <c:v>202310120015</c:v>
                </c:pt>
                <c:pt idx="8">
                  <c:v>202310120014</c:v>
                </c:pt>
                <c:pt idx="9">
                  <c:v>202310120015</c:v>
                </c:pt>
                <c:pt idx="10">
                  <c:v>202310250011</c:v>
                </c:pt>
                <c:pt idx="11">
                  <c:v>202310250012</c:v>
                </c:pt>
                <c:pt idx="12">
                  <c:v>202310250011</c:v>
                </c:pt>
                <c:pt idx="13">
                  <c:v>202310250012</c:v>
                </c:pt>
              </c:numCache>
            </c:numRef>
          </c:cat>
          <c:val>
            <c:numRef>
              <c:f>工作表1!$C$19:$C$32</c:f>
              <c:numCache>
                <c:formatCode>0.00%</c:formatCode>
                <c:ptCount val="14"/>
                <c:pt idx="0">
                  <c:v>0.6216216216216216</c:v>
                </c:pt>
                <c:pt idx="1">
                  <c:v>0.6330275229357798</c:v>
                </c:pt>
                <c:pt idx="2">
                  <c:v>0.73333333333333328</c:v>
                </c:pt>
                <c:pt idx="3">
                  <c:v>0.79640718562874246</c:v>
                </c:pt>
                <c:pt idx="4">
                  <c:v>0.67924528301886788</c:v>
                </c:pt>
                <c:pt idx="5">
                  <c:v>0.70560747663551404</c:v>
                </c:pt>
                <c:pt idx="6">
                  <c:v>0.75</c:v>
                </c:pt>
                <c:pt idx="7">
                  <c:v>0.8214285714285714</c:v>
                </c:pt>
                <c:pt idx="8">
                  <c:v>0.94285714285714284</c:v>
                </c:pt>
                <c:pt idx="9">
                  <c:v>0.82857142857142863</c:v>
                </c:pt>
                <c:pt idx="10">
                  <c:v>0.96840307429547401</c:v>
                </c:pt>
                <c:pt idx="11">
                  <c:v>0.96840307429547401</c:v>
                </c:pt>
                <c:pt idx="12">
                  <c:v>0.97232008052340213</c:v>
                </c:pt>
                <c:pt idx="13">
                  <c:v>0.97232008052340213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5529472"/>
        <c:axId val="164699456"/>
      </c:lineChart>
      <c:catAx>
        <c:axId val="135529472"/>
        <c:scaling>
          <c:orientation val="minMax"/>
        </c:scaling>
        <c:delete val="0"/>
        <c:axPos val="b"/>
        <c:numFmt formatCode="0_ " sourceLinked="1"/>
        <c:majorTickMark val="out"/>
        <c:minorTickMark val="none"/>
        <c:tickLblPos val="nextTo"/>
        <c:crossAx val="164699456"/>
        <c:crosses val="autoZero"/>
        <c:auto val="1"/>
        <c:lblAlgn val="ctr"/>
        <c:lblOffset val="100"/>
        <c:noMultiLvlLbl val="0"/>
      </c:catAx>
      <c:valAx>
        <c:axId val="164699456"/>
        <c:scaling>
          <c:orientation val="minMax"/>
        </c:scaling>
        <c:delete val="0"/>
        <c:axPos val="l"/>
        <c:majorGridlines/>
        <c:numFmt formatCode="0.00%" sourceLinked="1"/>
        <c:majorTickMark val="out"/>
        <c:minorTickMark val="none"/>
        <c:tickLblPos val="nextTo"/>
        <c:crossAx val="135529472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>
              <a:latin typeface="微軟正黑體" panose="020B0604030504040204" pitchFamily="34" charset="-120"/>
              <a:ea typeface="微軟正黑體" panose="020B0604030504040204" pitchFamily="34" charset="-120"/>
            </a:defRPr>
          </a:pPr>
          <a:endParaRPr lang="zh-TW"/>
        </a:p>
      </c:txPr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8EB3E-03BB-4BC9-9F02-F2EF0AB387C5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FCB98-4A41-4987-B0C4-0E71A939F8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549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FCB98-4A41-4987-B0C4-0E71A939F88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0660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FCB98-4A41-4987-B0C4-0E71A939F88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0660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427FE44-33A3-4C3D-97B1-9E5CEAA65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04CA637B-E270-45F0-AC40-B22E82F2A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E1BEE98F-4ED7-4A59-96FA-6934F73E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1CF1-B1D2-4C6F-AF94-40388B201988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605247B6-FE5A-4097-BD74-93B14A03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7070B712-DCBF-4BBA-925B-E076988B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B418-3E55-456C-8D69-C0673DC157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23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8DFF012-C2C0-40E3-A660-A71CB506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C7CC2013-5C2D-48C2-81AE-AC37E246A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7EA5FAB3-F6D0-4A61-98D3-79406182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1CF1-B1D2-4C6F-AF94-40388B201988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0038E922-F930-4C75-9C01-BF4B8126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59ABFC2-D9EA-42B8-83E3-6237A175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B418-3E55-456C-8D69-C0673DC157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7254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B19184F-2FAB-44AC-B9C9-FE2DEB3DA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A90DC809-9D78-45B5-A8B1-2E1766667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72D1EC7-1073-4317-B0CF-35A3D152A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1CF1-B1D2-4C6F-AF94-40388B201988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CBDEFC7C-FECE-411C-BBBA-C43030AC6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0155B057-96F1-4B6A-A659-E06F5038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B418-3E55-456C-8D69-C0673DC157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874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3D0B236-E754-4417-BEDD-966C60000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024A9C1-FDF5-42AD-A471-9C68A8F64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E352D9FE-F213-4B2D-BD6F-9FD988F1C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CAB56FF6-AD4F-4134-BB23-C5BB76B8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1CF1-B1D2-4C6F-AF94-40388B201988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FAFA8022-C34F-4D60-8252-B68A031E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B02B99B8-CAE7-4CBC-9581-82DE5038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B418-3E55-456C-8D69-C0673DC157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846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7BFB861-FB14-4E48-AE63-2D6640AC6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8E94F9E5-BC8A-495D-AA22-B94F61684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FBF5500F-109E-438D-A9DC-8D5C8D7A2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5A292E98-5C90-40F8-ADBD-F030F43107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7E2B484E-424A-4A89-B2C7-E951DBD0E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8F992F2C-F01A-4690-8B71-BCEDEC217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1CF1-B1D2-4C6F-AF94-40388B201988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50232853-DA00-453A-B37F-7BB99D29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25D93227-A1B0-4147-9C82-4B910AB2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B418-3E55-456C-8D69-C0673DC157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790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09AE669-9136-46F4-9081-AF28275D0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3582380C-ED46-4BA0-9215-855AB5C6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1CF1-B1D2-4C6F-AF94-40388B201988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E4D233C6-3A22-4C92-9B93-E61BB17FE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F95F53EE-C580-41CC-ADF7-A10338ED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B418-3E55-456C-8D69-C0673DC157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3303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15CE1FED-0EFC-4B5D-BEA5-315B2BBB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1CF1-B1D2-4C6F-AF94-40388B201988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56907A57-C911-4A2A-96F1-4A4977E9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4A8F96B6-D940-4F0A-A1AD-E58BEEF3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B418-3E55-456C-8D69-C0673DC157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708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41D7BE9-CBC2-43E5-B917-EA1F16D5A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AA77E042-7BCE-457F-8EF2-90FE9F473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77F2CDF7-9FE5-4DFF-91F6-4472D7B5A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A495B5A8-91CF-46CF-8BA6-2AC41334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1CF1-B1D2-4C6F-AF94-40388B201988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452C3912-EEDA-4D37-8FA2-80C327A5A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290C480D-97B6-4314-8E22-282C5442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B418-3E55-456C-8D69-C0673DC157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130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FE64BAA-D1E8-4985-B632-8B3645285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611C2D6A-1E18-48CA-B059-F922A8C12B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8B95932C-8088-4F9E-B3B8-2813D0D3E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C04DF855-8D61-4643-A231-DE4851042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1CF1-B1D2-4C6F-AF94-40388B201988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1CDB94E9-CA2A-49FB-B2B5-1E4922521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1CF77042-66FB-4615-BA9C-6E9F8273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B418-3E55-456C-8D69-C0673DC157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6112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7D83B77-B812-4935-9D04-87476B00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DC810F95-B28F-497B-B1CD-B174822CF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40E8F037-32B9-4513-BA7C-4E6235CB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1CF1-B1D2-4C6F-AF94-40388B201988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7851CB4E-2F3C-47C0-A5CE-032FAF41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1939A96F-9882-4270-8EAF-EB0521535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B418-3E55-456C-8D69-C0673DC157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268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CEC84197-F070-476D-B395-6515F8CA85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0E3C7A05-936D-48B7-B19B-29ACF6271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E12686F6-C92B-4F66-80B4-5DE843E0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1CF1-B1D2-4C6F-AF94-40388B201988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B109026D-2447-45C4-AACA-E7DE65792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120F3F43-2F42-451F-A5A2-9EAAA5AAF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B418-3E55-456C-8D69-C0673DC157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57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7DD66F6C-4972-4030-A171-00A369086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FE6ABEB6-4AF8-4EFD-9250-D39889598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8137AFEF-1B17-49FB-B41C-C3C65B60A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B1CF1-B1D2-4C6F-AF94-40388B201988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4794933D-BEC1-401C-B4EE-CDD5C0C90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76AC04F6-C952-4182-AC68-67901746F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7B418-3E55-456C-8D69-C0673DC157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636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3" y="787651"/>
            <a:ext cx="12014522" cy="12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3" y="2619526"/>
            <a:ext cx="9517062" cy="26670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96453" y="787651"/>
            <a:ext cx="4290352" cy="1200095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/>
          <p:cNvCxnSpPr>
            <a:stCxn id="2" idx="2"/>
          </p:cNvCxnSpPr>
          <p:nvPr/>
        </p:nvCxnSpPr>
        <p:spPr>
          <a:xfrm>
            <a:off x="2241629" y="1987746"/>
            <a:ext cx="0" cy="631780"/>
          </a:xfrm>
          <a:prstGeom prst="straightConnector1">
            <a:avLst/>
          </a:prstGeom>
          <a:ln w="28575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圓角矩形 6"/>
          <p:cNvSpPr/>
          <p:nvPr/>
        </p:nvSpPr>
        <p:spPr>
          <a:xfrm>
            <a:off x="154328" y="2974684"/>
            <a:ext cx="9336914" cy="289367"/>
          </a:xfrm>
          <a:prstGeom prst="roundRect">
            <a:avLst/>
          </a:prstGeom>
          <a:noFill/>
          <a:ln w="28575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圓角矩形 11"/>
          <p:cNvSpPr/>
          <p:nvPr/>
        </p:nvSpPr>
        <p:spPr>
          <a:xfrm>
            <a:off x="154328" y="3296845"/>
            <a:ext cx="9336914" cy="18886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xmlns="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8"/>
            <a:ext cx="10515600" cy="513416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(E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化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613515" y="4102647"/>
            <a:ext cx="1516762" cy="276999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製令單子批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Sub Lot</a:t>
            </a:r>
          </a:p>
        </p:txBody>
      </p:sp>
      <p:sp>
        <p:nvSpPr>
          <p:cNvPr id="15" name="矩形 14"/>
          <p:cNvSpPr/>
          <p:nvPr/>
        </p:nvSpPr>
        <p:spPr>
          <a:xfrm>
            <a:off x="9613514" y="2969952"/>
            <a:ext cx="1231427" cy="276999"/>
          </a:xfrm>
          <a:prstGeom prst="rect">
            <a:avLst/>
          </a:prstGeom>
          <a:solidFill>
            <a:srgbClr val="FF66FF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製令單母批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Lot</a:t>
            </a:r>
          </a:p>
        </p:txBody>
      </p:sp>
      <p:sp>
        <p:nvSpPr>
          <p:cNvPr id="8" name="矩形 7"/>
          <p:cNvSpPr/>
          <p:nvPr/>
        </p:nvSpPr>
        <p:spPr>
          <a:xfrm>
            <a:off x="1880727" y="5489821"/>
            <a:ext cx="738054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1.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「製令單母批」的製令單編碼使用凌越系統的製令單編號</a:t>
            </a:r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2.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「製令單子批」的製令單編碼原則為製令單母批編號加「</a:t>
            </a:r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-001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」開始的流水號</a:t>
            </a:r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Ex: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製令單母批為</a:t>
            </a:r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202310120014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，則第一個製令單子批為</a:t>
            </a:r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202310120014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-001</a:t>
            </a:r>
          </a:p>
          <a:p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                                                    第二個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製令單子批為</a:t>
            </a:r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202310120014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-002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8218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540" y="2590174"/>
            <a:ext cx="5584825" cy="81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8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412471"/>
              </p:ext>
            </p:extLst>
          </p:nvPr>
        </p:nvGraphicFramePr>
        <p:xfrm>
          <a:off x="4156547" y="3700875"/>
          <a:ext cx="7776955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8012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708012"/>
                <a:gridCol w="708012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708012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08012"/>
                <a:gridCol w="708012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708012"/>
                <a:gridCol w="719191"/>
                <a:gridCol w="696834"/>
                <a:gridCol w="696834"/>
                <a:gridCol w="708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zh-TW" sz="1200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11-2L12M4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0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0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15554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graphicFrame>
        <p:nvGraphicFramePr>
          <p:cNvPr id="136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599203"/>
              </p:ext>
            </p:extLst>
          </p:nvPr>
        </p:nvGraphicFramePr>
        <p:xfrm>
          <a:off x="4146383" y="1462073"/>
          <a:ext cx="7787117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8937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708937"/>
                <a:gridCol w="708937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708937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08937"/>
                <a:gridCol w="708937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708937"/>
                <a:gridCol w="720131"/>
                <a:gridCol w="697745"/>
                <a:gridCol w="697745"/>
                <a:gridCol w="70893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zh-TW" sz="1200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JK-01044-01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11-2L11M4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15554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8"/>
            <a:ext cx="10515600" cy="513416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81A3BBC4-8DEA-4DC2-A49A-7269DD26A538}"/>
              </a:ext>
            </a:extLst>
          </p:cNvPr>
          <p:cNvSpPr txBox="1"/>
          <p:nvPr/>
        </p:nvSpPr>
        <p:spPr>
          <a:xfrm>
            <a:off x="142060" y="579977"/>
            <a:ext cx="3764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選取準備作業的製令單母批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(Lot)</a:t>
            </a:r>
            <a:endParaRPr lang="zh-TW" altLang="en-US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4021095" y="1346191"/>
            <a:ext cx="8076400" cy="5112482"/>
          </a:xfrm>
          <a:prstGeom prst="roundRect">
            <a:avLst>
              <a:gd name="adj" fmla="val 4053"/>
            </a:avLst>
          </a:prstGeom>
          <a:noFill/>
          <a:ln w="38100">
            <a:solidFill>
              <a:schemeClr val="bg2">
                <a:lumMod val="2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2739" y="1650390"/>
            <a:ext cx="4219425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同一模可能多張製令單，需設計輸入多筆製令單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Step1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人員填寫機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台號碼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「C7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Step2 :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顯示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C7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」排程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List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，點選生產製令單號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Step3 :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帶入製令單號、產品名稱、穴數、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…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資訊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Step4 :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填寫「製令開始人員」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需小班長或師傅的工號權限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Step5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點選「開始作業」系統帶入當下時間於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「製令開始時間」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Step6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進入製令子單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(sub lot)</a:t>
            </a: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製令子單末碼請加上流水號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ex: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202310120014</a:t>
            </a:r>
            <a:r>
              <a:rPr lang="en-US" altLang="zh-TW" sz="1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-001</a:t>
            </a:r>
          </a:p>
          <a:p>
            <a:r>
              <a:rPr lang="en-US" altLang="zh-TW" sz="1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ex: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202310120014</a:t>
            </a:r>
            <a:r>
              <a:rPr lang="en-US" altLang="zh-TW" sz="1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-002</a:t>
            </a:r>
            <a:endParaRPr lang="zh-TW" altLang="en-US" sz="1400" b="1" dirty="0" smtClean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zh-TW" altLang="en-US" sz="1400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時間的資料型態</a:t>
            </a:r>
            <a:r>
              <a:rPr lang="en-US" altLang="zh-TW" sz="1400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</a:t>
            </a:r>
            <a:r>
              <a:rPr lang="en-US" altLang="zh-TW" sz="1400" b="1" dirty="0" err="1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yyyy</a:t>
            </a:r>
            <a:r>
              <a:rPr lang="en-US" altLang="zh-TW" sz="1400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/mm/</a:t>
            </a:r>
            <a:r>
              <a:rPr lang="en-US" altLang="zh-TW" sz="1400" b="1" dirty="0" err="1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dd</a:t>
            </a:r>
            <a:r>
              <a:rPr lang="en-US" altLang="zh-TW" sz="1400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err="1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hh:mm</a:t>
            </a:r>
            <a:endParaRPr lang="en-US" altLang="zh-TW" sz="14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5470507" y="1838854"/>
            <a:ext cx="293651" cy="2936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4146382" y="5497525"/>
            <a:ext cx="5451118" cy="2135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橢圓 94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4009722" y="5211130"/>
            <a:ext cx="293651" cy="2936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4140304" y="3001202"/>
            <a:ext cx="5547636" cy="2135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1" name="矩形 140"/>
          <p:cNvSpPr/>
          <p:nvPr/>
        </p:nvSpPr>
        <p:spPr>
          <a:xfrm>
            <a:off x="6056041" y="1802828"/>
            <a:ext cx="1415772" cy="276999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人員填寫機台號碼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圓角矩形 66"/>
          <p:cNvSpPr/>
          <p:nvPr/>
        </p:nvSpPr>
        <p:spPr>
          <a:xfrm>
            <a:off x="9734013" y="5809770"/>
            <a:ext cx="1065690" cy="39410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開始作業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圓角矩形 69"/>
          <p:cNvSpPr/>
          <p:nvPr/>
        </p:nvSpPr>
        <p:spPr>
          <a:xfrm>
            <a:off x="10952103" y="5803562"/>
            <a:ext cx="1065690" cy="39410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製令結單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6056041" y="4004820"/>
            <a:ext cx="1415772" cy="276999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人員填寫機台號碼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5529554" y="4025747"/>
            <a:ext cx="293651" cy="2936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87" name="橢圓 8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3993478" y="2658211"/>
            <a:ext cx="293651" cy="2936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11364776" y="2034496"/>
            <a:ext cx="534803" cy="3241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1703961" y="1868312"/>
            <a:ext cx="293651" cy="29365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127" name="橢圓 12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4304097" y="2645840"/>
            <a:ext cx="293651" cy="2936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129" name="矩形 128"/>
          <p:cNvSpPr/>
          <p:nvPr/>
        </p:nvSpPr>
        <p:spPr>
          <a:xfrm>
            <a:off x="10305550" y="2645840"/>
            <a:ext cx="1729961" cy="276999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小班長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or</a:t>
            </a:r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師傅填寫工號</a:t>
            </a:r>
            <a:endParaRPr lang="en-US" altLang="zh-TW" sz="12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8941394" y="3345989"/>
            <a:ext cx="3094117" cy="276999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系統由生產排程計畫表帶出「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C7</a:t>
            </a:r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」排程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List</a:t>
            </a:r>
            <a:endParaRPr lang="en-US" altLang="zh-TW" sz="1200" b="1" dirty="0" smtClean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9718130" y="5789411"/>
            <a:ext cx="1104723" cy="45529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10087122" y="5443431"/>
            <a:ext cx="1415772" cy="276999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點選「開始作業」</a:t>
            </a:r>
            <a:endParaRPr lang="en-US" altLang="zh-TW" sz="12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132" name="橢圓 131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9940296" y="5161781"/>
            <a:ext cx="293651" cy="2936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5</a:t>
            </a:r>
            <a:endParaRPr lang="zh-TW" altLang="en-US" sz="1400" b="1" dirty="0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11314268" y="4314265"/>
            <a:ext cx="534803" cy="3241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1653453" y="4148081"/>
            <a:ext cx="293651" cy="29365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40" name="矩形 39"/>
          <p:cNvSpPr/>
          <p:nvPr/>
        </p:nvSpPr>
        <p:spPr>
          <a:xfrm>
            <a:off x="4140303" y="1069192"/>
            <a:ext cx="1231427" cy="276999"/>
          </a:xfrm>
          <a:prstGeom prst="rect">
            <a:avLst/>
          </a:prstGeom>
          <a:solidFill>
            <a:srgbClr val="FF66FF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製令單母批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Lot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031" y="4915679"/>
            <a:ext cx="5584825" cy="81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橢圓 31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4349530" y="5207413"/>
            <a:ext cx="293651" cy="2936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4099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748611"/>
              </p:ext>
            </p:extLst>
          </p:nvPr>
        </p:nvGraphicFramePr>
        <p:xfrm>
          <a:off x="4165691" y="2265267"/>
          <a:ext cx="7776955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8012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708012"/>
                <a:gridCol w="708012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708012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08012"/>
                <a:gridCol w="708012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708012"/>
                <a:gridCol w="719191"/>
                <a:gridCol w="696834"/>
                <a:gridCol w="696834"/>
                <a:gridCol w="708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</a:t>
                      </a:r>
                    </a:p>
                    <a:p>
                      <a:pPr algn="ctr"/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11-2L12M4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0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0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Q1234</a:t>
                      </a:r>
                      <a:endParaRPr lang="zh-TW" altLang="en-US" sz="12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15554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graphicFrame>
        <p:nvGraphicFramePr>
          <p:cNvPr id="136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144487"/>
              </p:ext>
            </p:extLst>
          </p:nvPr>
        </p:nvGraphicFramePr>
        <p:xfrm>
          <a:off x="4155527" y="1105457"/>
          <a:ext cx="7787117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8937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708937"/>
                <a:gridCol w="708937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708937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08937"/>
                <a:gridCol w="708937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708937"/>
                <a:gridCol w="720131"/>
                <a:gridCol w="697745"/>
                <a:gridCol w="697745"/>
                <a:gridCol w="70893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</a:t>
                      </a:r>
                    </a:p>
                    <a:p>
                      <a:pPr algn="ctr"/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202310120014-001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JK-01044-01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11-2L11M4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Q1234</a:t>
                      </a:r>
                      <a:endParaRPr lang="zh-TW" altLang="en-US" sz="12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15554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8"/>
            <a:ext cx="10515600" cy="513416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81A3BBC4-8DEA-4DC2-A49A-7269DD26A538}"/>
              </a:ext>
            </a:extLst>
          </p:cNvPr>
          <p:cNvSpPr txBox="1"/>
          <p:nvPr/>
        </p:nvSpPr>
        <p:spPr>
          <a:xfrm>
            <a:off x="142060" y="579977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連結回生產排程表</a:t>
            </a:r>
            <a:endParaRPr lang="zh-TW" altLang="en-US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4030239" y="989575"/>
            <a:ext cx="8076400" cy="3545849"/>
          </a:xfrm>
          <a:prstGeom prst="roundRect">
            <a:avLst>
              <a:gd name="adj" fmla="val 4053"/>
            </a:avLst>
          </a:prstGeom>
          <a:noFill/>
          <a:ln w="38100">
            <a:solidFill>
              <a:schemeClr val="bg2">
                <a:lumMod val="2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0375" y="1650390"/>
            <a:ext cx="4176464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Step1 :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製令單母批「開始作業」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Step2 :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「開始時間」回傳至「生產排程計畫表」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的「實際上機日」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Step3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Status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」改為「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On-going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Note : 1.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「實際上機日」尚未填入時，「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Status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則為「尚未上機」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2.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生產排程計畫表中，新增「暫停生產」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與「取消生產」當點選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「暫停生產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」，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Status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」則為「暫停生產」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3.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點選「取消生產」時，這筆資料就不會再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顯示於畫面中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67" name="圓角矩形 66"/>
          <p:cNvSpPr/>
          <p:nvPr/>
        </p:nvSpPr>
        <p:spPr>
          <a:xfrm>
            <a:off x="9743157" y="4017546"/>
            <a:ext cx="1065690" cy="39410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開始作業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圓角矩形 69"/>
          <p:cNvSpPr/>
          <p:nvPr/>
        </p:nvSpPr>
        <p:spPr>
          <a:xfrm>
            <a:off x="10961247" y="4011338"/>
            <a:ext cx="1065690" cy="39410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製令結單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9727274" y="3997187"/>
            <a:ext cx="1104723" cy="45529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10096266" y="3651207"/>
            <a:ext cx="1415772" cy="276999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點選「開始作業」</a:t>
            </a:r>
            <a:endParaRPr lang="en-US" altLang="zh-TW" sz="12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132" name="橢圓 131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9949440" y="3369557"/>
            <a:ext cx="293651" cy="2936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40" name="矩形 39"/>
          <p:cNvSpPr/>
          <p:nvPr/>
        </p:nvSpPr>
        <p:spPr>
          <a:xfrm>
            <a:off x="4149447" y="712576"/>
            <a:ext cx="1231427" cy="276999"/>
          </a:xfrm>
          <a:prstGeom prst="rect">
            <a:avLst/>
          </a:prstGeom>
          <a:solidFill>
            <a:srgbClr val="FF66FF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製令單母批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Lot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224933"/>
            <a:ext cx="11991975" cy="945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6460200" y="5470159"/>
            <a:ext cx="407326" cy="70051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4269450" y="2326908"/>
            <a:ext cx="495710" cy="93064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11494091" y="5470159"/>
            <a:ext cx="612547" cy="70051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" name="肘形接點 3"/>
          <p:cNvCxnSpPr>
            <a:stCxn id="67" idx="2"/>
          </p:cNvCxnSpPr>
          <p:nvPr/>
        </p:nvCxnSpPr>
        <p:spPr>
          <a:xfrm rot="5400000" flipH="1">
            <a:off x="6710867" y="846521"/>
            <a:ext cx="1619427" cy="5510842"/>
          </a:xfrm>
          <a:prstGeom prst="bentConnector4">
            <a:avLst>
              <a:gd name="adj1" fmla="val -14116"/>
              <a:gd name="adj2" fmla="val 54835"/>
            </a:avLst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接點 40"/>
          <p:cNvCxnSpPr>
            <a:stCxn id="36" idx="2"/>
            <a:endCxn id="35" idx="0"/>
          </p:cNvCxnSpPr>
          <p:nvPr/>
        </p:nvCxnSpPr>
        <p:spPr>
          <a:xfrm rot="16200000" flipH="1">
            <a:off x="4484279" y="3290575"/>
            <a:ext cx="2212610" cy="2146558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接點 42"/>
          <p:cNvCxnSpPr>
            <a:stCxn id="35" idx="3"/>
            <a:endCxn id="37" idx="1"/>
          </p:cNvCxnSpPr>
          <p:nvPr/>
        </p:nvCxnSpPr>
        <p:spPr>
          <a:xfrm>
            <a:off x="6867526" y="5820418"/>
            <a:ext cx="4626565" cy="12700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49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951981"/>
              </p:ext>
            </p:extLst>
          </p:nvPr>
        </p:nvGraphicFramePr>
        <p:xfrm>
          <a:off x="1985797" y="5183100"/>
          <a:ext cx="8072964" cy="8548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99456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624271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1209606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937422"/>
                <a:gridCol w="937422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560615"/>
                <a:gridCol w="624949">
                  <a:extLst>
                    <a:ext uri="{9D8B030D-6E8A-4147-A177-3AD203B41FA5}">
                      <a16:colId xmlns:a16="http://schemas.microsoft.com/office/drawing/2014/main" xmlns="" val="3711883912"/>
                    </a:ext>
                  </a:extLst>
                </a:gridCol>
                <a:gridCol w="588187">
                  <a:extLst>
                    <a:ext uri="{9D8B030D-6E8A-4147-A177-3AD203B41FA5}">
                      <a16:colId xmlns:a16="http://schemas.microsoft.com/office/drawing/2014/main" xmlns="" val="3214261047"/>
                    </a:ext>
                  </a:extLst>
                </a:gridCol>
                <a:gridCol w="845518"/>
                <a:gridCol w="845518"/>
              </a:tblGrid>
              <a:tr h="42813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開始時間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</a:t>
                      </a:r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令單號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產品編號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1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作業人員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作業人員</a:t>
                      </a:r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1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當下時間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1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202310120014-001</a:t>
                      </a:r>
                      <a:endParaRPr lang="zh-TW" altLang="en-US" sz="11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JK-01044-01</a:t>
                      </a:r>
                      <a:endParaRPr lang="zh-TW" altLang="en-US" sz="11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11-2L11M4</a:t>
                      </a:r>
                      <a:endParaRPr lang="zh-TW" altLang="en-US" sz="11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1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1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Q4321</a:t>
                      </a:r>
                      <a:endParaRPr lang="zh-TW" altLang="en-US" sz="11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Q1234</a:t>
                      </a:r>
                      <a:endParaRPr lang="zh-TW" altLang="en-US" sz="11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graphicFrame>
        <p:nvGraphicFramePr>
          <p:cNvPr id="54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86462"/>
              </p:ext>
            </p:extLst>
          </p:nvPr>
        </p:nvGraphicFramePr>
        <p:xfrm>
          <a:off x="1983872" y="4023675"/>
          <a:ext cx="8074888" cy="8548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99670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624420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1209895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937646"/>
                <a:gridCol w="937646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560749"/>
                <a:gridCol w="625097">
                  <a:extLst>
                    <a:ext uri="{9D8B030D-6E8A-4147-A177-3AD203B41FA5}">
                      <a16:colId xmlns:a16="http://schemas.microsoft.com/office/drawing/2014/main" xmlns="" val="3711883912"/>
                    </a:ext>
                  </a:extLst>
                </a:gridCol>
                <a:gridCol w="588327">
                  <a:extLst>
                    <a:ext uri="{9D8B030D-6E8A-4147-A177-3AD203B41FA5}">
                      <a16:colId xmlns:a16="http://schemas.microsoft.com/office/drawing/2014/main" xmlns="" val="3214261047"/>
                    </a:ext>
                  </a:extLst>
                </a:gridCol>
                <a:gridCol w="845719"/>
                <a:gridCol w="845719"/>
              </a:tblGrid>
              <a:tr h="42813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開始時間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</a:t>
                      </a:r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令單號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產品編號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1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作業人員</a:t>
                      </a:r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作業人員</a:t>
                      </a:r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1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當下時間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1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202310120014-001</a:t>
                      </a:r>
                      <a:endParaRPr lang="zh-TW" altLang="en-US" sz="11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JK-01044-01</a:t>
                      </a:r>
                      <a:endParaRPr lang="zh-TW" altLang="en-US" sz="11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11-2L11M4</a:t>
                      </a:r>
                      <a:endParaRPr lang="zh-TW" altLang="en-US" sz="11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1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1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Q4321</a:t>
                      </a:r>
                      <a:endParaRPr lang="zh-TW" altLang="en-US" sz="11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Q1234</a:t>
                      </a:r>
                      <a:endParaRPr lang="zh-TW" altLang="en-US" sz="11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8"/>
            <a:ext cx="10515600" cy="513416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81A3BBC4-8DEA-4DC2-A49A-7269DD26A538}"/>
              </a:ext>
            </a:extLst>
          </p:cNvPr>
          <p:cNvSpPr txBox="1"/>
          <p:nvPr/>
        </p:nvSpPr>
        <p:spPr>
          <a:xfrm>
            <a:off x="487128" y="267788"/>
            <a:ext cx="313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en-US" altLang="zh-TW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Check in</a:t>
            </a:r>
            <a:endParaRPr lang="zh-TW" altLang="en-US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714" r="50073" b="57139"/>
          <a:stretch/>
        </p:blipFill>
        <p:spPr bwMode="auto">
          <a:xfrm>
            <a:off x="349679" y="811387"/>
            <a:ext cx="3459619" cy="226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4995514" y="1290015"/>
            <a:ext cx="3592971" cy="1600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Step1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人員填寫材質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Step2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人員填寫自已工號或姓名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Step3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人員點選「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Check in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」資料送至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DB</a:t>
            </a: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Step4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系統帶入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Check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in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的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時間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zh-TW" altLang="en-US" sz="1400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時間的資料型態</a:t>
            </a:r>
            <a:r>
              <a:rPr lang="en-US" altLang="zh-TW" sz="1400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</a:t>
            </a:r>
            <a:r>
              <a:rPr lang="en-US" altLang="zh-TW" sz="1400" b="1" dirty="0" err="1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yyyy</a:t>
            </a:r>
            <a:r>
              <a:rPr lang="en-US" altLang="zh-TW" sz="1400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/mm/</a:t>
            </a:r>
            <a:r>
              <a:rPr lang="en-US" altLang="zh-TW" sz="1400" b="1" dirty="0" err="1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dd</a:t>
            </a:r>
            <a:r>
              <a:rPr lang="en-US" altLang="zh-TW" sz="1400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err="1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hh:mm</a:t>
            </a:r>
            <a:endParaRPr lang="en-US" altLang="zh-TW" sz="14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119" name="圓角矩形 118"/>
          <p:cNvSpPr/>
          <p:nvPr/>
        </p:nvSpPr>
        <p:spPr>
          <a:xfrm>
            <a:off x="1753868" y="3462734"/>
            <a:ext cx="9855539" cy="2984367"/>
          </a:xfrm>
          <a:prstGeom prst="roundRect">
            <a:avLst>
              <a:gd name="adj" fmla="val 4053"/>
            </a:avLst>
          </a:prstGeom>
          <a:noFill/>
          <a:ln w="38100">
            <a:solidFill>
              <a:schemeClr val="bg2">
                <a:lumMod val="2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2017665" y="4474366"/>
            <a:ext cx="748652" cy="350667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3" name="矩形 152"/>
          <p:cNvSpPr/>
          <p:nvPr/>
        </p:nvSpPr>
        <p:spPr>
          <a:xfrm>
            <a:off x="501051" y="4537508"/>
            <a:ext cx="1582484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Check in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493472" y="5762370"/>
            <a:ext cx="1582484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Check in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的時間</a:t>
            </a: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605569" y="4129381"/>
            <a:ext cx="293651" cy="29365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633198" y="5432507"/>
            <a:ext cx="293651" cy="29365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7229579" y="4481602"/>
            <a:ext cx="534803" cy="3241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3" name="乘號 172"/>
          <p:cNvSpPr/>
          <p:nvPr/>
        </p:nvSpPr>
        <p:spPr>
          <a:xfrm>
            <a:off x="2281382" y="1643588"/>
            <a:ext cx="468577" cy="1518163"/>
          </a:xfrm>
          <a:prstGeom prst="mathMultiply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4" name="矩形 173"/>
          <p:cNvSpPr/>
          <p:nvPr/>
        </p:nvSpPr>
        <p:spPr>
          <a:xfrm>
            <a:off x="7065814" y="4889851"/>
            <a:ext cx="800219" cy="276999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人員輸入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6" name="橢圓 175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7083526" y="4187951"/>
            <a:ext cx="293651" cy="29365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178" name="橢圓 177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33358" y="1597948"/>
            <a:ext cx="293651" cy="2936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179" name="橢圓 178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327009" y="1617703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180" name="橢圓 179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306288" y="1948560"/>
            <a:ext cx="293651" cy="29365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181" name="橢圓 180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875085" y="1659347"/>
            <a:ext cx="293651" cy="29365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5</a:t>
            </a:r>
            <a:endParaRPr lang="zh-TW" altLang="en-US" sz="1400" b="1" dirty="0"/>
          </a:p>
        </p:txBody>
      </p:sp>
      <p:sp>
        <p:nvSpPr>
          <p:cNvPr id="187" name="橢圓 18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8304750" y="4196781"/>
            <a:ext cx="293651" cy="29365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2</a:t>
            </a:r>
            <a:endParaRPr lang="zh-TW" altLang="en-US" sz="1400" b="1" dirty="0"/>
          </a:p>
        </p:txBody>
      </p:sp>
      <p:sp>
        <p:nvSpPr>
          <p:cNvPr id="3" name="圓角矩形 2"/>
          <p:cNvSpPr/>
          <p:nvPr/>
        </p:nvSpPr>
        <p:spPr>
          <a:xfrm>
            <a:off x="9874807" y="4616409"/>
            <a:ext cx="1065690" cy="39410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Check in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9402141" y="5087514"/>
            <a:ext cx="2569934" cy="27699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人員點選「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Check in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」資料送至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DB</a:t>
            </a:r>
            <a:endParaRPr lang="en-US" altLang="zh-TW" sz="1200" b="1" dirty="0" smtClean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2028192" y="5700103"/>
            <a:ext cx="748652" cy="350667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7274378" y="5719589"/>
            <a:ext cx="534803" cy="3241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8555750" y="4513918"/>
            <a:ext cx="605364" cy="3241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8590475" y="5698336"/>
            <a:ext cx="605364" cy="3241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矩形 74"/>
          <p:cNvSpPr/>
          <p:nvPr/>
        </p:nvSpPr>
        <p:spPr>
          <a:xfrm>
            <a:off x="8354147" y="4903751"/>
            <a:ext cx="800219" cy="276999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人員輸入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橢圓 90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9911936" y="4276206"/>
            <a:ext cx="293651" cy="293651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67" name="圓角矩形 66"/>
          <p:cNvSpPr/>
          <p:nvPr/>
        </p:nvSpPr>
        <p:spPr>
          <a:xfrm>
            <a:off x="9911936" y="5700103"/>
            <a:ext cx="1065690" cy="61967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回到製</a:t>
            </a:r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令母單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26849" y="3195223"/>
            <a:ext cx="1516762" cy="276999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製令單子批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Sub Lot</a:t>
            </a:r>
          </a:p>
        </p:txBody>
      </p:sp>
    </p:spTree>
    <p:extLst>
      <p:ext uri="{BB962C8B-B14F-4D97-AF65-F5344CB8AC3E}">
        <p14:creationId xmlns:p14="http://schemas.microsoft.com/office/powerpoint/2010/main" val="203100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350522"/>
              </p:ext>
            </p:extLst>
          </p:nvPr>
        </p:nvGraphicFramePr>
        <p:xfrm>
          <a:off x="2326506" y="3626601"/>
          <a:ext cx="9743524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96736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505378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715408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92474"/>
                <a:gridCol w="792474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620198"/>
                <a:gridCol w="482376">
                  <a:extLst>
                    <a:ext uri="{9D8B030D-6E8A-4147-A177-3AD203B41FA5}">
                      <a16:colId xmlns:a16="http://schemas.microsoft.com/office/drawing/2014/main" xmlns="" val="3711883912"/>
                    </a:ext>
                  </a:extLst>
                </a:gridCol>
                <a:gridCol w="464591"/>
                <a:gridCol w="596736"/>
                <a:gridCol w="596736">
                  <a:extLst>
                    <a:ext uri="{9D8B030D-6E8A-4147-A177-3AD203B41FA5}">
                      <a16:colId xmlns:a16="http://schemas.microsoft.com/office/drawing/2014/main" xmlns="" val="3214261047"/>
                    </a:ext>
                  </a:extLst>
                </a:gridCol>
                <a:gridCol w="562900">
                  <a:extLst>
                    <a:ext uri="{9D8B030D-6E8A-4147-A177-3AD203B41FA5}">
                      <a16:colId xmlns:a16="http://schemas.microsoft.com/office/drawing/2014/main" xmlns="" val="3053086302"/>
                    </a:ext>
                  </a:extLst>
                </a:gridCol>
                <a:gridCol w="630573">
                  <a:extLst>
                    <a:ext uri="{9D8B030D-6E8A-4147-A177-3AD203B41FA5}">
                      <a16:colId xmlns:a16="http://schemas.microsoft.com/office/drawing/2014/main" xmlns="" val="3913990425"/>
                    </a:ext>
                  </a:extLst>
                </a:gridCol>
                <a:gridCol w="596736"/>
                <a:gridCol w="596736">
                  <a:extLst>
                    <a:ext uri="{9D8B030D-6E8A-4147-A177-3AD203B41FA5}">
                      <a16:colId xmlns:a16="http://schemas.microsoft.com/office/drawing/2014/main" xmlns="" val="2576832354"/>
                    </a:ext>
                  </a:extLst>
                </a:gridCol>
                <a:gridCol w="596736"/>
                <a:gridCol w="59673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開始時間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 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製令數量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模數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/1H</a:t>
                      </a:r>
                      <a:endParaRPr lang="zh-TW" altLang="en-US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秒數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202310120014-002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JK-01044-02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11-2L12M4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Q4321</a:t>
                      </a:r>
                      <a:endParaRPr lang="zh-TW" altLang="en-US" sz="1000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Q1234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8"/>
            <a:ext cx="10515600" cy="513416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5628" y="5076229"/>
            <a:ext cx="3323667" cy="1600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不良品記錄方式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Step1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人員點選不良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Step2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點選的不良累記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+1</a:t>
            </a:r>
          </a:p>
          <a:p>
            <a:r>
              <a:rPr lang="en-US" altLang="zh-TW" sz="1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Note: </a:t>
            </a:r>
            <a:r>
              <a:rPr lang="zh-TW" altLang="en-US" sz="1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點選不良時可以選擇</a:t>
            </a:r>
            <a:r>
              <a:rPr lang="en-US" altLang="zh-TW" sz="1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+1</a:t>
            </a:r>
            <a:r>
              <a:rPr lang="zh-TW" altLang="en-US" sz="1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或</a:t>
            </a:r>
            <a:r>
              <a:rPr lang="en-US" altLang="zh-TW" sz="1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-1</a:t>
            </a:r>
            <a:r>
              <a:rPr lang="zh-TW" altLang="en-US" sz="1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，</a:t>
            </a:r>
            <a:endParaRPr lang="en-US" altLang="zh-TW" sz="1400" b="1" dirty="0" smtClean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</a:t>
            </a:r>
            <a:r>
              <a:rPr lang="zh-TW" altLang="en-US" sz="1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避免人員誤觸</a:t>
            </a:r>
            <a:endParaRPr lang="en-US" altLang="zh-TW" sz="1400" b="1" dirty="0" smtClean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Step3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所有不良加總成為不良數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Step4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不良數串連至「不良數」欄位中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graphicFrame>
        <p:nvGraphicFramePr>
          <p:cNvPr id="47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345441"/>
              </p:ext>
            </p:extLst>
          </p:nvPr>
        </p:nvGraphicFramePr>
        <p:xfrm>
          <a:off x="2349662" y="788621"/>
          <a:ext cx="9702234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94207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712376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89115"/>
                <a:gridCol w="789115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617571"/>
                <a:gridCol w="480332">
                  <a:extLst>
                    <a:ext uri="{9D8B030D-6E8A-4147-A177-3AD203B41FA5}">
                      <a16:colId xmlns:a16="http://schemas.microsoft.com/office/drawing/2014/main" xmlns="" val="3711883912"/>
                    </a:ext>
                  </a:extLst>
                </a:gridCol>
                <a:gridCol w="462623"/>
                <a:gridCol w="594207"/>
                <a:gridCol w="594207">
                  <a:extLst>
                    <a:ext uri="{9D8B030D-6E8A-4147-A177-3AD203B41FA5}">
                      <a16:colId xmlns:a16="http://schemas.microsoft.com/office/drawing/2014/main" xmlns="" val="3214261047"/>
                    </a:ext>
                  </a:extLst>
                </a:gridCol>
                <a:gridCol w="560515">
                  <a:extLst>
                    <a:ext uri="{9D8B030D-6E8A-4147-A177-3AD203B41FA5}">
                      <a16:colId xmlns:a16="http://schemas.microsoft.com/office/drawing/2014/main" xmlns="" val="3053086302"/>
                    </a:ext>
                  </a:extLst>
                </a:gridCol>
                <a:gridCol w="627901">
                  <a:extLst>
                    <a:ext uri="{9D8B030D-6E8A-4147-A177-3AD203B41FA5}">
                      <a16:colId xmlns:a16="http://schemas.microsoft.com/office/drawing/2014/main" xmlns="" val="3913990425"/>
                    </a:ext>
                  </a:extLst>
                </a:gridCol>
                <a:gridCol w="594207"/>
                <a:gridCol w="594207">
                  <a:extLst>
                    <a:ext uri="{9D8B030D-6E8A-4147-A177-3AD203B41FA5}">
                      <a16:colId xmlns:a16="http://schemas.microsoft.com/office/drawing/2014/main" xmlns="" val="2576832354"/>
                    </a:ext>
                  </a:extLst>
                </a:gridCol>
                <a:gridCol w="594207"/>
                <a:gridCol w="59420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開始時間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 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製令數量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模數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/1H</a:t>
                      </a:r>
                      <a:endParaRPr lang="zh-TW" altLang="en-US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秒數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202310120014-001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JK-01044-01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11-2L11M4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Q4321</a:t>
                      </a:r>
                      <a:endParaRPr lang="zh-TW" altLang="en-US" sz="1000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Q1234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44540"/>
              </p:ext>
            </p:extLst>
          </p:nvPr>
        </p:nvGraphicFramePr>
        <p:xfrm>
          <a:off x="5495492" y="1938527"/>
          <a:ext cx="4900260" cy="15383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16710"/>
                <a:gridCol w="816710"/>
                <a:gridCol w="816710"/>
                <a:gridCol w="816710"/>
                <a:gridCol w="816710"/>
                <a:gridCol w="816710"/>
              </a:tblGrid>
              <a:tr h="44199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色差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變形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縮水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缺料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破洞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其它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548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氣泡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雜質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壓克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溢料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流痕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548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油污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毛邊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1700" b="1" u="none" strike="noStrike" dirty="0" smtClean="0">
                          <a:solidFill>
                            <a:schemeClr val="bg1"/>
                          </a:solidFill>
                          <a:effectLst/>
                          <a:ea typeface="微軟正黑體" panose="020B0604030504040204" pitchFamily="34" charset="-120"/>
                        </a:rPr>
                        <a:t>黑點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刮傷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1700" b="1" u="none" strike="noStrike" dirty="0" smtClean="0">
                          <a:solidFill>
                            <a:schemeClr val="bg1"/>
                          </a:solidFill>
                          <a:effectLst/>
                          <a:ea typeface="微軟正黑體" panose="020B0604030504040204" pitchFamily="34" charset="-120"/>
                        </a:rPr>
                        <a:t>包封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919271"/>
              </p:ext>
            </p:extLst>
          </p:nvPr>
        </p:nvGraphicFramePr>
        <p:xfrm>
          <a:off x="5496971" y="4914034"/>
          <a:ext cx="4900260" cy="15383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16710"/>
                <a:gridCol w="816710"/>
                <a:gridCol w="816710"/>
                <a:gridCol w="816710"/>
                <a:gridCol w="816710"/>
                <a:gridCol w="816710"/>
              </a:tblGrid>
              <a:tr h="44199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色差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變形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縮水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缺料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破洞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其它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548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氣泡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雜質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壓克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溢料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流痕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548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油污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毛邊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1700" b="1" u="none" strike="noStrike" dirty="0" smtClean="0">
                          <a:solidFill>
                            <a:schemeClr val="bg1"/>
                          </a:solidFill>
                          <a:effectLst/>
                          <a:ea typeface="微軟正黑體" panose="020B0604030504040204" pitchFamily="34" charset="-120"/>
                        </a:rPr>
                        <a:t>黑點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刮傷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1700" b="1" u="none" strike="noStrike" dirty="0" smtClean="0">
                          <a:solidFill>
                            <a:schemeClr val="bg1"/>
                          </a:solidFill>
                          <a:effectLst/>
                          <a:ea typeface="微軟正黑體" panose="020B0604030504040204" pitchFamily="34" charset="-120"/>
                        </a:rPr>
                        <a:t>包封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2" name="矩形 51"/>
          <p:cNvSpPr/>
          <p:nvPr/>
        </p:nvSpPr>
        <p:spPr>
          <a:xfrm>
            <a:off x="6859299" y="2810582"/>
            <a:ext cx="1415772" cy="276999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人員點選「不良」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179584" y="2471624"/>
            <a:ext cx="414235" cy="31316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/>
        </p:nvSpPr>
        <p:spPr>
          <a:xfrm>
            <a:off x="7629331" y="2471624"/>
            <a:ext cx="280673" cy="313164"/>
          </a:xfrm>
          <a:prstGeom prst="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7024865" y="2232998"/>
            <a:ext cx="293651" cy="2936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7769667" y="2195729"/>
            <a:ext cx="293651" cy="29365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61" name="矩形 60"/>
          <p:cNvSpPr/>
          <p:nvPr/>
        </p:nvSpPr>
        <p:spPr>
          <a:xfrm>
            <a:off x="7769667" y="1791130"/>
            <a:ext cx="1160895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點選後累記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+1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420269" y="1773047"/>
            <a:ext cx="5028748" cy="176027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10596645" y="2618081"/>
            <a:ext cx="1107996" cy="276999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所有不良加總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542468" y="2311067"/>
            <a:ext cx="293651" cy="2936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68" name="矩形 67"/>
          <p:cNvSpPr/>
          <p:nvPr/>
        </p:nvSpPr>
        <p:spPr>
          <a:xfrm>
            <a:off x="9904463" y="1400147"/>
            <a:ext cx="1569660" cy="276999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不良加總串至不良數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橢圓 69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9078096" y="1135078"/>
            <a:ext cx="293651" cy="29365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cxnSp>
        <p:nvCxnSpPr>
          <p:cNvPr id="4" name="直線單箭頭接點 3"/>
          <p:cNvCxnSpPr>
            <a:stCxn id="63" idx="0"/>
            <a:endCxn id="68" idx="2"/>
          </p:cNvCxnSpPr>
          <p:nvPr/>
        </p:nvCxnSpPr>
        <p:spPr>
          <a:xfrm flipH="1" flipV="1">
            <a:off x="10689293" y="1677146"/>
            <a:ext cx="461350" cy="940935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7171690" y="5482633"/>
            <a:ext cx="414235" cy="31316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 79"/>
          <p:cNvSpPr/>
          <p:nvPr/>
        </p:nvSpPr>
        <p:spPr>
          <a:xfrm>
            <a:off x="7621437" y="5482633"/>
            <a:ext cx="280673" cy="313164"/>
          </a:xfrm>
          <a:prstGeom prst="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 80"/>
          <p:cNvSpPr/>
          <p:nvPr/>
        </p:nvSpPr>
        <p:spPr>
          <a:xfrm>
            <a:off x="7173164" y="6007909"/>
            <a:ext cx="414235" cy="31316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 81"/>
          <p:cNvSpPr/>
          <p:nvPr/>
        </p:nvSpPr>
        <p:spPr>
          <a:xfrm>
            <a:off x="7622911" y="6007909"/>
            <a:ext cx="280673" cy="313164"/>
          </a:xfrm>
          <a:prstGeom prst="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6859299" y="5219421"/>
            <a:ext cx="293651" cy="2936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85" name="橢圓 84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7787817" y="5219742"/>
            <a:ext cx="293651" cy="29365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86" name="矩形 85"/>
          <p:cNvSpPr/>
          <p:nvPr/>
        </p:nvSpPr>
        <p:spPr>
          <a:xfrm>
            <a:off x="8179519" y="5239561"/>
            <a:ext cx="1160895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點選後累記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+1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452321" y="4787630"/>
            <a:ext cx="5028748" cy="176027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矩形 90"/>
          <p:cNvSpPr/>
          <p:nvPr/>
        </p:nvSpPr>
        <p:spPr>
          <a:xfrm>
            <a:off x="10599313" y="5581573"/>
            <a:ext cx="1107996" cy="276999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所有不良加總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橢圓 91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545136" y="5274559"/>
            <a:ext cx="293651" cy="2936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93" name="矩形 92"/>
          <p:cNvSpPr/>
          <p:nvPr/>
        </p:nvSpPr>
        <p:spPr>
          <a:xfrm>
            <a:off x="9823694" y="4241770"/>
            <a:ext cx="1569660" cy="276999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不良加總串至不良數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6" name="直線單箭頭接點 95"/>
          <p:cNvCxnSpPr>
            <a:stCxn id="91" idx="0"/>
            <a:endCxn id="93" idx="2"/>
          </p:cNvCxnSpPr>
          <p:nvPr/>
        </p:nvCxnSpPr>
        <p:spPr>
          <a:xfrm flipH="1" flipV="1">
            <a:off x="10608524" y="4518769"/>
            <a:ext cx="544787" cy="1062804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/>
          <p:cNvSpPr/>
          <p:nvPr/>
        </p:nvSpPr>
        <p:spPr>
          <a:xfrm>
            <a:off x="9184281" y="4221831"/>
            <a:ext cx="553843" cy="296938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8982799" y="3963326"/>
            <a:ext cx="293651" cy="29365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4</a:t>
            </a:r>
            <a:endParaRPr lang="zh-TW" altLang="en-US" sz="1400" b="1" dirty="0"/>
          </a:p>
        </p:txBody>
      </p:sp>
      <p:sp>
        <p:nvSpPr>
          <p:cNvPr id="100" name="矩形 99"/>
          <p:cNvSpPr/>
          <p:nvPr/>
        </p:nvSpPr>
        <p:spPr>
          <a:xfrm>
            <a:off x="9244066" y="1428729"/>
            <a:ext cx="553843" cy="296938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 82"/>
          <p:cNvSpPr/>
          <p:nvPr/>
        </p:nvSpPr>
        <p:spPr>
          <a:xfrm>
            <a:off x="6878039" y="6409405"/>
            <a:ext cx="1415772" cy="276999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人員點選「不良」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xmlns="" id="{81A3BBC4-8DEA-4DC2-A49A-7269DD26A538}"/>
              </a:ext>
            </a:extLst>
          </p:cNvPr>
          <p:cNvSpPr txBox="1"/>
          <p:nvPr/>
        </p:nvSpPr>
        <p:spPr>
          <a:xfrm>
            <a:off x="255628" y="233063"/>
            <a:ext cx="3037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en-US" altLang="zh-TW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Process</a:t>
            </a:r>
            <a:endParaRPr lang="zh-TW" altLang="en-US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267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215598"/>
              </p:ext>
            </p:extLst>
          </p:nvPr>
        </p:nvGraphicFramePr>
        <p:xfrm>
          <a:off x="2523279" y="788621"/>
          <a:ext cx="9528616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83574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494231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699628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74995"/>
                <a:gridCol w="774995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606519"/>
                <a:gridCol w="471737">
                  <a:extLst>
                    <a:ext uri="{9D8B030D-6E8A-4147-A177-3AD203B41FA5}">
                      <a16:colId xmlns:a16="http://schemas.microsoft.com/office/drawing/2014/main" xmlns="" val="3711883912"/>
                    </a:ext>
                  </a:extLst>
                </a:gridCol>
                <a:gridCol w="454344"/>
                <a:gridCol w="583574"/>
                <a:gridCol w="583574">
                  <a:extLst>
                    <a:ext uri="{9D8B030D-6E8A-4147-A177-3AD203B41FA5}">
                      <a16:colId xmlns:a16="http://schemas.microsoft.com/office/drawing/2014/main" xmlns="" val="3214261047"/>
                    </a:ext>
                  </a:extLst>
                </a:gridCol>
                <a:gridCol w="550484">
                  <a:extLst>
                    <a:ext uri="{9D8B030D-6E8A-4147-A177-3AD203B41FA5}">
                      <a16:colId xmlns:a16="http://schemas.microsoft.com/office/drawing/2014/main" xmlns="" val="3053086302"/>
                    </a:ext>
                  </a:extLst>
                </a:gridCol>
                <a:gridCol w="616665">
                  <a:extLst>
                    <a:ext uri="{9D8B030D-6E8A-4147-A177-3AD203B41FA5}">
                      <a16:colId xmlns:a16="http://schemas.microsoft.com/office/drawing/2014/main" xmlns="" val="3913990425"/>
                    </a:ext>
                  </a:extLst>
                </a:gridCol>
                <a:gridCol w="583574"/>
                <a:gridCol w="583574">
                  <a:extLst>
                    <a:ext uri="{9D8B030D-6E8A-4147-A177-3AD203B41FA5}">
                      <a16:colId xmlns:a16="http://schemas.microsoft.com/office/drawing/2014/main" xmlns="" val="2576832354"/>
                    </a:ext>
                  </a:extLst>
                </a:gridCol>
                <a:gridCol w="583574"/>
                <a:gridCol w="58357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開始時間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 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製令數量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模數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/1H</a:t>
                      </a:r>
                      <a:endParaRPr lang="zh-TW" altLang="en-US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秒數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202310120014-001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JK-01044-01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11-2L11M4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Q4321</a:t>
                      </a:r>
                      <a:endParaRPr lang="zh-TW" altLang="en-US" sz="1000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Q1234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0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</a:t>
                      </a:r>
                    </a:p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11/3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8"/>
            <a:ext cx="10515600" cy="513416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903286"/>
            <a:ext cx="3592971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Check out</a:t>
            </a: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Step1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人員輸入「生產數量」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Step2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人員輸入「成型秒數」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Step3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模數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/1H=(60*60)/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成型秒數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*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穴數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zh-TW" altLang="en-US" sz="1400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模數</a:t>
            </a:r>
            <a:r>
              <a:rPr lang="en-US" altLang="zh-TW" sz="1400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/1H</a:t>
            </a:r>
            <a:r>
              <a:rPr lang="zh-TW" altLang="en-US" sz="1400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無條件去除小數點</a:t>
            </a:r>
            <a:endParaRPr lang="en-US" altLang="zh-TW" sz="1400" b="1" dirty="0" smtClean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Step4 :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人員輸入備註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事項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(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可空白不填寫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)</a:t>
            </a: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Step5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點選「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Check in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」資料送至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DB</a:t>
            </a: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Step6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系統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帶入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Check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Out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的時間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898626"/>
              </p:ext>
            </p:extLst>
          </p:nvPr>
        </p:nvGraphicFramePr>
        <p:xfrm>
          <a:off x="5495492" y="2062819"/>
          <a:ext cx="4900260" cy="15383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16710"/>
                <a:gridCol w="816710"/>
                <a:gridCol w="816710"/>
                <a:gridCol w="816710"/>
                <a:gridCol w="816710"/>
                <a:gridCol w="816710"/>
              </a:tblGrid>
              <a:tr h="44199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色差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變形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縮水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缺料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破洞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其它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548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氣泡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雜質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壓克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溢料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流痕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548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油污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毛邊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1700" b="1" u="none" strike="noStrike" dirty="0" smtClean="0">
                          <a:solidFill>
                            <a:schemeClr val="bg1"/>
                          </a:solidFill>
                          <a:effectLst/>
                          <a:ea typeface="微軟正黑體" panose="020B0604030504040204" pitchFamily="34" charset="-120"/>
                        </a:rPr>
                        <a:t>黑點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刮傷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1700" b="1" u="none" strike="noStrike" dirty="0" smtClean="0">
                          <a:solidFill>
                            <a:schemeClr val="bg1"/>
                          </a:solidFill>
                          <a:effectLst/>
                          <a:ea typeface="微軟正黑體" panose="020B0604030504040204" pitchFamily="34" charset="-120"/>
                        </a:rPr>
                        <a:t>包封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225096"/>
              </p:ext>
            </p:extLst>
          </p:nvPr>
        </p:nvGraphicFramePr>
        <p:xfrm>
          <a:off x="5496971" y="4914034"/>
          <a:ext cx="4900260" cy="15383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16710"/>
                <a:gridCol w="816710"/>
                <a:gridCol w="816710"/>
                <a:gridCol w="816710"/>
                <a:gridCol w="816710"/>
                <a:gridCol w="816710"/>
              </a:tblGrid>
              <a:tr h="44199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色差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變形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縮水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缺料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破洞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其它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548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氣泡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雜質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壓克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溢料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流痕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548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油污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毛邊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1700" b="1" u="none" strike="noStrike" dirty="0" smtClean="0">
                          <a:solidFill>
                            <a:schemeClr val="bg1"/>
                          </a:solidFill>
                          <a:effectLst/>
                          <a:ea typeface="微軟正黑體" panose="020B0604030504040204" pitchFamily="34" charset="-120"/>
                        </a:rPr>
                        <a:t>黑點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7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刮傷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1700" b="1" u="none" strike="noStrike" dirty="0" smtClean="0">
                          <a:solidFill>
                            <a:schemeClr val="bg1"/>
                          </a:solidFill>
                          <a:effectLst/>
                          <a:ea typeface="微軟正黑體" panose="020B0604030504040204" pitchFamily="34" charset="-120"/>
                        </a:rPr>
                        <a:t>包封</a:t>
                      </a:r>
                      <a:r>
                        <a:rPr lang="en-US" altLang="zh-TW" sz="17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(0)</a:t>
                      </a:r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17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7252" marR="77252" marT="38626" marB="38626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2" name="矩形 61"/>
          <p:cNvSpPr/>
          <p:nvPr/>
        </p:nvSpPr>
        <p:spPr>
          <a:xfrm>
            <a:off x="5420269" y="1997475"/>
            <a:ext cx="5028748" cy="166013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矩形 87"/>
          <p:cNvSpPr/>
          <p:nvPr/>
        </p:nvSpPr>
        <p:spPr>
          <a:xfrm>
            <a:off x="5452321" y="4787630"/>
            <a:ext cx="5028748" cy="176027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矩形 108"/>
          <p:cNvSpPr/>
          <p:nvPr/>
        </p:nvSpPr>
        <p:spPr>
          <a:xfrm>
            <a:off x="10412606" y="1395689"/>
            <a:ext cx="429547" cy="29693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293779" y="1122244"/>
            <a:ext cx="293651" cy="2936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xmlns="" id="{81A3BBC4-8DEA-4DC2-A49A-7269DD26A538}"/>
              </a:ext>
            </a:extLst>
          </p:cNvPr>
          <p:cNvSpPr txBox="1"/>
          <p:nvPr/>
        </p:nvSpPr>
        <p:spPr>
          <a:xfrm>
            <a:off x="487128" y="267788"/>
            <a:ext cx="3307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en-US" altLang="zh-TW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Check out</a:t>
            </a:r>
            <a:endParaRPr lang="zh-TW" altLang="en-US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670583" y="1404567"/>
            <a:ext cx="440347" cy="296938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8463828" y="1149431"/>
            <a:ext cx="293651" cy="293651"/>
          </a:xfrm>
          <a:prstGeom prst="ellipse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72" name="矩形 71"/>
          <p:cNvSpPr/>
          <p:nvPr/>
        </p:nvSpPr>
        <p:spPr>
          <a:xfrm>
            <a:off x="9835198" y="1395689"/>
            <a:ext cx="458582" cy="296938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9676044" y="1149431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76" name="圓角矩形 75"/>
          <p:cNvSpPr/>
          <p:nvPr/>
        </p:nvSpPr>
        <p:spPr>
          <a:xfrm>
            <a:off x="10372117" y="2501762"/>
            <a:ext cx="1233725" cy="394109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Check Out</a:t>
            </a:r>
            <a:endParaRPr lang="zh-TW" altLang="en-US" dirty="0"/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842153" y="2174745"/>
            <a:ext cx="293651" cy="29365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5</a:t>
            </a:r>
            <a:endParaRPr lang="zh-TW" altLang="en-US" sz="1400" b="1" dirty="0"/>
          </a:p>
        </p:txBody>
      </p:sp>
      <p:sp>
        <p:nvSpPr>
          <p:cNvPr id="78" name="矩形 77"/>
          <p:cNvSpPr/>
          <p:nvPr/>
        </p:nvSpPr>
        <p:spPr>
          <a:xfrm>
            <a:off x="9456026" y="3104499"/>
            <a:ext cx="2712602" cy="276999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人員點選「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Check 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Out</a:t>
            </a:r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資料送至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DB</a:t>
            </a:r>
            <a:endParaRPr lang="en-US" altLang="zh-TW" sz="1200" b="1" dirty="0" smtClean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11529881" y="1379375"/>
            <a:ext cx="553843" cy="2969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1450317" y="1100849"/>
            <a:ext cx="293651" cy="2936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40" name="矩形 39"/>
          <p:cNvSpPr/>
          <p:nvPr/>
        </p:nvSpPr>
        <p:spPr>
          <a:xfrm>
            <a:off x="10957606" y="1413098"/>
            <a:ext cx="484036" cy="296938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肘形接點 3"/>
          <p:cNvCxnSpPr>
            <a:stCxn id="77" idx="6"/>
            <a:endCxn id="40" idx="2"/>
          </p:cNvCxnSpPr>
          <p:nvPr/>
        </p:nvCxnSpPr>
        <p:spPr>
          <a:xfrm flipV="1">
            <a:off x="11135804" y="1710036"/>
            <a:ext cx="63820" cy="611535"/>
          </a:xfrm>
          <a:prstGeom prst="bentConnector2">
            <a:avLst/>
          </a:prstGeom>
          <a:ln w="28575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圓角矩形 32"/>
          <p:cNvSpPr/>
          <p:nvPr/>
        </p:nvSpPr>
        <p:spPr>
          <a:xfrm>
            <a:off x="10636937" y="5917341"/>
            <a:ext cx="1065690" cy="61967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回到製</a:t>
            </a:r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令母單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7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184945"/>
              </p:ext>
            </p:extLst>
          </p:nvPr>
        </p:nvGraphicFramePr>
        <p:xfrm>
          <a:off x="2615882" y="3696051"/>
          <a:ext cx="9454148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9013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490369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694161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68938"/>
                <a:gridCol w="768938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601780"/>
                <a:gridCol w="468050">
                  <a:extLst>
                    <a:ext uri="{9D8B030D-6E8A-4147-A177-3AD203B41FA5}">
                      <a16:colId xmlns:a16="http://schemas.microsoft.com/office/drawing/2014/main" xmlns="" val="3711883912"/>
                    </a:ext>
                  </a:extLst>
                </a:gridCol>
                <a:gridCol w="450793"/>
                <a:gridCol w="579013"/>
                <a:gridCol w="579013">
                  <a:extLst>
                    <a:ext uri="{9D8B030D-6E8A-4147-A177-3AD203B41FA5}">
                      <a16:colId xmlns:a16="http://schemas.microsoft.com/office/drawing/2014/main" xmlns="" val="3214261047"/>
                    </a:ext>
                  </a:extLst>
                </a:gridCol>
                <a:gridCol w="546182">
                  <a:extLst>
                    <a:ext uri="{9D8B030D-6E8A-4147-A177-3AD203B41FA5}">
                      <a16:colId xmlns:a16="http://schemas.microsoft.com/office/drawing/2014/main" xmlns="" val="3053086302"/>
                    </a:ext>
                  </a:extLst>
                </a:gridCol>
                <a:gridCol w="611846">
                  <a:extLst>
                    <a:ext uri="{9D8B030D-6E8A-4147-A177-3AD203B41FA5}">
                      <a16:colId xmlns:a16="http://schemas.microsoft.com/office/drawing/2014/main" xmlns="" val="3913990425"/>
                    </a:ext>
                  </a:extLst>
                </a:gridCol>
                <a:gridCol w="579013"/>
                <a:gridCol w="579013">
                  <a:extLst>
                    <a:ext uri="{9D8B030D-6E8A-4147-A177-3AD203B41FA5}">
                      <a16:colId xmlns:a16="http://schemas.microsoft.com/office/drawing/2014/main" xmlns="" val="2576832354"/>
                    </a:ext>
                  </a:extLst>
                </a:gridCol>
                <a:gridCol w="579013"/>
                <a:gridCol w="57901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開始時間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 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製令數量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模數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/1H</a:t>
                      </a:r>
                      <a:endParaRPr lang="zh-TW" altLang="en-US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秒數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202310120014-002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JK-01044-02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11-2L12M4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Q4321</a:t>
                      </a:r>
                      <a:endParaRPr lang="zh-TW" altLang="en-US" sz="1000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Q1234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10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431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</a:t>
                      </a:r>
                    </a:p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11/3</a:t>
                      </a:r>
                      <a:endParaRPr lang="zh-TW" altLang="en-US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sp>
        <p:nvSpPr>
          <p:cNvPr id="38" name="矩形 37"/>
          <p:cNvSpPr/>
          <p:nvPr/>
        </p:nvSpPr>
        <p:spPr>
          <a:xfrm>
            <a:off x="10414531" y="4302939"/>
            <a:ext cx="429547" cy="29693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295704" y="4029494"/>
            <a:ext cx="293651" cy="2936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41" name="矩形 40"/>
          <p:cNvSpPr/>
          <p:nvPr/>
        </p:nvSpPr>
        <p:spPr>
          <a:xfrm>
            <a:off x="8672508" y="4311817"/>
            <a:ext cx="440347" cy="296938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8465753" y="4056681"/>
            <a:ext cx="293651" cy="293651"/>
          </a:xfrm>
          <a:prstGeom prst="ellipse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43" name="矩形 42"/>
          <p:cNvSpPr/>
          <p:nvPr/>
        </p:nvSpPr>
        <p:spPr>
          <a:xfrm>
            <a:off x="9837123" y="4302939"/>
            <a:ext cx="458582" cy="296938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9677969" y="4056681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45" name="矩形 44"/>
          <p:cNvSpPr/>
          <p:nvPr/>
        </p:nvSpPr>
        <p:spPr>
          <a:xfrm>
            <a:off x="11531806" y="4286625"/>
            <a:ext cx="553843" cy="2969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1452242" y="4008099"/>
            <a:ext cx="293651" cy="2936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47" name="矩形 46"/>
          <p:cNvSpPr/>
          <p:nvPr/>
        </p:nvSpPr>
        <p:spPr>
          <a:xfrm>
            <a:off x="10959531" y="4320348"/>
            <a:ext cx="484036" cy="296938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0" name="肘形接點 49"/>
          <p:cNvCxnSpPr>
            <a:stCxn id="47" idx="0"/>
            <a:endCxn id="77" idx="4"/>
          </p:cNvCxnSpPr>
          <p:nvPr/>
        </p:nvCxnSpPr>
        <p:spPr>
          <a:xfrm rot="16200000" flipV="1">
            <a:off x="10169288" y="3288087"/>
            <a:ext cx="1851952" cy="21257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3281087" y="576827"/>
            <a:ext cx="1516762" cy="276999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製令單子批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Sub Lot</a:t>
            </a:r>
          </a:p>
        </p:txBody>
      </p:sp>
    </p:spTree>
    <p:extLst>
      <p:ext uri="{BB962C8B-B14F-4D97-AF65-F5344CB8AC3E}">
        <p14:creationId xmlns:p14="http://schemas.microsoft.com/office/powerpoint/2010/main" val="378414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096067"/>
              </p:ext>
            </p:extLst>
          </p:nvPr>
        </p:nvGraphicFramePr>
        <p:xfrm>
          <a:off x="3437677" y="3828200"/>
          <a:ext cx="7731892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2899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702899"/>
                <a:gridCol w="702899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702899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02899"/>
                <a:gridCol w="702899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702899"/>
                <a:gridCol w="713999"/>
                <a:gridCol w="691802"/>
                <a:gridCol w="702899"/>
                <a:gridCol w="7028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2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202310120014-002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JK-01044-02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11-2L12M4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15554</a:t>
                      </a:r>
                      <a:endParaRPr lang="zh-TW" altLang="en-US" sz="12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graphicFrame>
        <p:nvGraphicFramePr>
          <p:cNvPr id="41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57332"/>
              </p:ext>
            </p:extLst>
          </p:nvPr>
        </p:nvGraphicFramePr>
        <p:xfrm>
          <a:off x="3438491" y="5215917"/>
          <a:ext cx="7742649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3877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703877"/>
                <a:gridCol w="703877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703877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03877"/>
                <a:gridCol w="703877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703877"/>
                <a:gridCol w="714991"/>
                <a:gridCol w="692765"/>
                <a:gridCol w="703877"/>
                <a:gridCol w="7038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2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202310120014-002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JK-01044-02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11-2L12M4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15554</a:t>
                      </a:r>
                      <a:endParaRPr lang="zh-TW" altLang="en-US" sz="12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graphicFrame>
        <p:nvGraphicFramePr>
          <p:cNvPr id="34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58464"/>
              </p:ext>
            </p:extLst>
          </p:nvPr>
        </p:nvGraphicFramePr>
        <p:xfrm>
          <a:off x="3217775" y="788621"/>
          <a:ext cx="8834116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6337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488102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690953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65384"/>
                <a:gridCol w="765384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598998"/>
                <a:gridCol w="465887">
                  <a:extLst>
                    <a:ext uri="{9D8B030D-6E8A-4147-A177-3AD203B41FA5}">
                      <a16:colId xmlns:a16="http://schemas.microsoft.com/office/drawing/2014/main" xmlns="" val="3711883912"/>
                    </a:ext>
                  </a:extLst>
                </a:gridCol>
                <a:gridCol w="448710"/>
                <a:gridCol w="576337">
                  <a:extLst>
                    <a:ext uri="{9D8B030D-6E8A-4147-A177-3AD203B41FA5}">
                      <a16:colId xmlns:a16="http://schemas.microsoft.com/office/drawing/2014/main" xmlns="" val="3214261047"/>
                    </a:ext>
                  </a:extLst>
                </a:gridCol>
                <a:gridCol w="543658">
                  <a:extLst>
                    <a:ext uri="{9D8B030D-6E8A-4147-A177-3AD203B41FA5}">
                      <a16:colId xmlns:a16="http://schemas.microsoft.com/office/drawing/2014/main" xmlns="" val="3053086302"/>
                    </a:ext>
                  </a:extLst>
                </a:gridCol>
                <a:gridCol w="609018">
                  <a:extLst>
                    <a:ext uri="{9D8B030D-6E8A-4147-A177-3AD203B41FA5}">
                      <a16:colId xmlns:a16="http://schemas.microsoft.com/office/drawing/2014/main" xmlns="" val="3913990425"/>
                    </a:ext>
                  </a:extLst>
                </a:gridCol>
                <a:gridCol w="576337"/>
                <a:gridCol w="576337">
                  <a:extLst>
                    <a:ext uri="{9D8B030D-6E8A-4147-A177-3AD203B41FA5}">
                      <a16:colId xmlns:a16="http://schemas.microsoft.com/office/drawing/2014/main" xmlns="" val="2576832354"/>
                    </a:ext>
                  </a:extLst>
                </a:gridCol>
                <a:gridCol w="576337"/>
                <a:gridCol w="57633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開始時間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 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製令數量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模數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/1H</a:t>
                      </a:r>
                      <a:endParaRPr lang="zh-TW" altLang="en-US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秒數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202310120014-001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JK-01044-01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11-2L11M4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Q1234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45</a:t>
                      </a:r>
                      <a:endParaRPr lang="zh-TW" altLang="en-US" sz="10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</a:t>
                      </a:r>
                      <a:endParaRPr lang="zh-TW" altLang="en-US" sz="10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0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431</a:t>
                      </a:r>
                      <a:endParaRPr lang="zh-TW" altLang="en-US" sz="10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8"/>
            <a:ext cx="10515600" cy="513416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160450" y="726902"/>
            <a:ext cx="8909575" cy="2843548"/>
          </a:xfrm>
          <a:prstGeom prst="roundRect">
            <a:avLst>
              <a:gd name="adj" fmla="val 4053"/>
            </a:avLst>
          </a:prstGeom>
          <a:noFill/>
          <a:ln w="38100">
            <a:solidFill>
              <a:schemeClr val="bg2">
                <a:lumMod val="2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1617" y="3976426"/>
            <a:ext cx="3397405" cy="1600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Step1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點選「返回製令母批」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Step2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生產總數量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所有製令子批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生產數量總合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Step3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不良數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所有製令子批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不良數量總合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Step4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點選「製令結單」，資料送至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DB</a:t>
            </a: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Step5 :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系統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帶入製令結單的時間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xmlns="" id="{81A3BBC4-8DEA-4DC2-A49A-7269DD26A538}"/>
              </a:ext>
            </a:extLst>
          </p:cNvPr>
          <p:cNvSpPr txBox="1"/>
          <p:nvPr/>
        </p:nvSpPr>
        <p:spPr>
          <a:xfrm>
            <a:off x="22464" y="313954"/>
            <a:ext cx="3865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製令單母批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(Lot)</a:t>
            </a:r>
            <a:endParaRPr lang="zh-TW" altLang="en-US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圓角矩形 23"/>
          <p:cNvSpPr/>
          <p:nvPr/>
        </p:nvSpPr>
        <p:spPr>
          <a:xfrm>
            <a:off x="3310359" y="3693518"/>
            <a:ext cx="8759665" cy="3164481"/>
          </a:xfrm>
          <a:prstGeom prst="roundRect">
            <a:avLst>
              <a:gd name="adj" fmla="val 4053"/>
            </a:avLst>
          </a:prstGeom>
          <a:noFill/>
          <a:ln w="38100">
            <a:solidFill>
              <a:schemeClr val="bg2">
                <a:lumMod val="2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圓角矩形 30"/>
          <p:cNvSpPr/>
          <p:nvPr/>
        </p:nvSpPr>
        <p:spPr>
          <a:xfrm>
            <a:off x="9120538" y="6307495"/>
            <a:ext cx="1065690" cy="39410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開始作業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圓角矩形 31"/>
          <p:cNvSpPr/>
          <p:nvPr/>
        </p:nvSpPr>
        <p:spPr>
          <a:xfrm>
            <a:off x="10338628" y="6324437"/>
            <a:ext cx="1065690" cy="39410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製令結單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10320030" y="6298711"/>
            <a:ext cx="1104723" cy="45529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6" name="矩形 55"/>
          <p:cNvSpPr/>
          <p:nvPr/>
        </p:nvSpPr>
        <p:spPr>
          <a:xfrm>
            <a:off x="10639704" y="5994423"/>
            <a:ext cx="1415772" cy="276999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點選「製令結單」</a:t>
            </a:r>
            <a:endParaRPr lang="en-US" altLang="zh-TW" sz="12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1586784" y="6379531"/>
            <a:ext cx="293651" cy="2936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4</a:t>
            </a:r>
            <a:endParaRPr lang="zh-TW" altLang="en-US" sz="1400" b="1" dirty="0"/>
          </a:p>
        </p:txBody>
      </p:sp>
      <p:sp>
        <p:nvSpPr>
          <p:cNvPr id="60" name="矩形 59"/>
          <p:cNvSpPr/>
          <p:nvPr/>
        </p:nvSpPr>
        <p:spPr>
          <a:xfrm>
            <a:off x="9162226" y="4428121"/>
            <a:ext cx="553843" cy="29693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/>
        </p:nvSpPr>
        <p:spPr>
          <a:xfrm>
            <a:off x="9141853" y="5819022"/>
            <a:ext cx="553843" cy="29693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8207697" y="4899174"/>
            <a:ext cx="1415772" cy="276999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計算所有子批總合</a:t>
            </a:r>
            <a:endParaRPr lang="en-US" altLang="zh-TW" sz="12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9049939" y="4227750"/>
            <a:ext cx="293651" cy="29365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2</a:t>
            </a:r>
            <a:endParaRPr lang="zh-TW" altLang="en-US" sz="1400" b="1" dirty="0"/>
          </a:p>
        </p:txBody>
      </p:sp>
      <p:sp>
        <p:nvSpPr>
          <p:cNvPr id="69" name="矩形 68"/>
          <p:cNvSpPr/>
          <p:nvPr/>
        </p:nvSpPr>
        <p:spPr>
          <a:xfrm>
            <a:off x="4225289" y="4459793"/>
            <a:ext cx="553843" cy="296938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/>
        </p:nvSpPr>
        <p:spPr>
          <a:xfrm>
            <a:off x="4225288" y="5680438"/>
            <a:ext cx="553843" cy="296938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/>
          <p:cNvSpPr/>
          <p:nvPr/>
        </p:nvSpPr>
        <p:spPr>
          <a:xfrm>
            <a:off x="3948211" y="6115960"/>
            <a:ext cx="1107996" cy="276999"/>
          </a:xfrm>
          <a:prstGeom prst="rect">
            <a:avLst/>
          </a:prstGeom>
          <a:solidFill>
            <a:srgbClr val="FF66FF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帶入結束時間</a:t>
            </a:r>
            <a:endParaRPr lang="en-US" altLang="zh-TW" sz="12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3990114" y="5013182"/>
            <a:ext cx="293651" cy="293651"/>
          </a:xfrm>
          <a:prstGeom prst="ellipse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5</a:t>
            </a:r>
            <a:endParaRPr lang="zh-TW" altLang="en-US" sz="1400" b="1" dirty="0"/>
          </a:p>
        </p:txBody>
      </p:sp>
      <p:graphicFrame>
        <p:nvGraphicFramePr>
          <p:cNvPr id="35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289184"/>
              </p:ext>
            </p:extLst>
          </p:nvPr>
        </p:nvGraphicFramePr>
        <p:xfrm>
          <a:off x="3235910" y="1936651"/>
          <a:ext cx="8834116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6337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488102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690953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65384"/>
                <a:gridCol w="765384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598998"/>
                <a:gridCol w="465887">
                  <a:extLst>
                    <a:ext uri="{9D8B030D-6E8A-4147-A177-3AD203B41FA5}">
                      <a16:colId xmlns:a16="http://schemas.microsoft.com/office/drawing/2014/main" xmlns="" val="3711883912"/>
                    </a:ext>
                  </a:extLst>
                </a:gridCol>
                <a:gridCol w="448710"/>
                <a:gridCol w="576337">
                  <a:extLst>
                    <a:ext uri="{9D8B030D-6E8A-4147-A177-3AD203B41FA5}">
                      <a16:colId xmlns:a16="http://schemas.microsoft.com/office/drawing/2014/main" xmlns="" val="3214261047"/>
                    </a:ext>
                  </a:extLst>
                </a:gridCol>
                <a:gridCol w="543658">
                  <a:extLst>
                    <a:ext uri="{9D8B030D-6E8A-4147-A177-3AD203B41FA5}">
                      <a16:colId xmlns:a16="http://schemas.microsoft.com/office/drawing/2014/main" xmlns="" val="3053086302"/>
                    </a:ext>
                  </a:extLst>
                </a:gridCol>
                <a:gridCol w="609018">
                  <a:extLst>
                    <a:ext uri="{9D8B030D-6E8A-4147-A177-3AD203B41FA5}">
                      <a16:colId xmlns:a16="http://schemas.microsoft.com/office/drawing/2014/main" xmlns="" val="3913990425"/>
                    </a:ext>
                  </a:extLst>
                </a:gridCol>
                <a:gridCol w="576337"/>
                <a:gridCol w="576337">
                  <a:extLst>
                    <a:ext uri="{9D8B030D-6E8A-4147-A177-3AD203B41FA5}">
                      <a16:colId xmlns:a16="http://schemas.microsoft.com/office/drawing/2014/main" xmlns="" val="2576832354"/>
                    </a:ext>
                  </a:extLst>
                </a:gridCol>
                <a:gridCol w="576337"/>
                <a:gridCol w="57633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開始時間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 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製令數量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模數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/1H</a:t>
                      </a:r>
                      <a:endParaRPr lang="zh-TW" altLang="en-US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成型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秒數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202310120014-002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JK-01044-02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11-2L12M4</a:t>
                      </a:r>
                      <a:endParaRPr lang="zh-TW" altLang="en-US" sz="11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Q1234</a:t>
                      </a:r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53</a:t>
                      </a:r>
                      <a:endParaRPr lang="zh-TW" altLang="en-US" sz="10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</a:t>
                      </a:r>
                      <a:endParaRPr lang="zh-TW" altLang="en-US" sz="10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0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0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431</a:t>
                      </a:r>
                      <a:endParaRPr lang="zh-TW" altLang="en-US" sz="10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sp>
        <p:nvSpPr>
          <p:cNvPr id="59" name="橢圓 58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496402" y="2950773"/>
            <a:ext cx="293651" cy="293651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20" name="圓角矩形 19"/>
          <p:cNvSpPr/>
          <p:nvPr/>
        </p:nvSpPr>
        <p:spPr>
          <a:xfrm>
            <a:off x="10814745" y="2950773"/>
            <a:ext cx="1065690" cy="61967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返回製</a:t>
            </a:r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令母批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17953" y="588402"/>
            <a:ext cx="1516762" cy="276999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製令單子批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Sub Lot</a:t>
            </a:r>
          </a:p>
        </p:txBody>
      </p:sp>
      <p:sp>
        <p:nvSpPr>
          <p:cNvPr id="37" name="矩形 36"/>
          <p:cNvSpPr/>
          <p:nvPr/>
        </p:nvSpPr>
        <p:spPr>
          <a:xfrm>
            <a:off x="3391578" y="3570450"/>
            <a:ext cx="1231427" cy="276999"/>
          </a:xfrm>
          <a:prstGeom prst="rect">
            <a:avLst/>
          </a:prstGeom>
          <a:solidFill>
            <a:srgbClr val="FF66FF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製令單母批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Lot</a:t>
            </a:r>
          </a:p>
        </p:txBody>
      </p:sp>
      <p:sp>
        <p:nvSpPr>
          <p:cNvPr id="28" name="矩形 27"/>
          <p:cNvSpPr/>
          <p:nvPr/>
        </p:nvSpPr>
        <p:spPr>
          <a:xfrm>
            <a:off x="9868469" y="4428896"/>
            <a:ext cx="553843" cy="296938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9873109" y="5819022"/>
            <a:ext cx="553843" cy="296938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9653383" y="4166142"/>
            <a:ext cx="293651" cy="293651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9687652" y="5521163"/>
            <a:ext cx="293651" cy="293651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9075644" y="5535256"/>
            <a:ext cx="293651" cy="29365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2</a:t>
            </a:r>
            <a:endParaRPr lang="zh-TW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15744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118629"/>
              </p:ext>
            </p:extLst>
          </p:nvPr>
        </p:nvGraphicFramePr>
        <p:xfrm>
          <a:off x="4165691" y="2265267"/>
          <a:ext cx="7776955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8012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708012"/>
                <a:gridCol w="708012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708012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08012"/>
                <a:gridCol w="708012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708012"/>
                <a:gridCol w="719191"/>
                <a:gridCol w="696834"/>
                <a:gridCol w="696834"/>
                <a:gridCol w="708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</a:t>
                      </a:r>
                    </a:p>
                    <a:p>
                      <a:pPr algn="ctr"/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</a:t>
                      </a:r>
                    </a:p>
                    <a:p>
                      <a:pPr algn="ctr"/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11-2L12M4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0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0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Q1234</a:t>
                      </a:r>
                      <a:endParaRPr lang="zh-TW" altLang="en-US" sz="12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15554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graphicFrame>
        <p:nvGraphicFramePr>
          <p:cNvPr id="136" name="表格 9">
            <a:extLst>
              <a:ext uri="{FF2B5EF4-FFF2-40B4-BE49-F238E27FC236}">
                <a16:creationId xmlns:a16="http://schemas.microsoft.com/office/drawing/2014/main" xmlns="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117284"/>
              </p:ext>
            </p:extLst>
          </p:nvPr>
        </p:nvGraphicFramePr>
        <p:xfrm>
          <a:off x="4155527" y="1105457"/>
          <a:ext cx="7787117" cy="1051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8937">
                  <a:extLst>
                    <a:ext uri="{9D8B030D-6E8A-4147-A177-3AD203B41FA5}">
                      <a16:colId xmlns:a16="http://schemas.microsoft.com/office/drawing/2014/main" xmlns="" val="1632906908"/>
                    </a:ext>
                  </a:extLst>
                </a:gridCol>
                <a:gridCol w="708937"/>
                <a:gridCol w="708937">
                  <a:extLst>
                    <a:ext uri="{9D8B030D-6E8A-4147-A177-3AD203B41FA5}">
                      <a16:colId xmlns:a16="http://schemas.microsoft.com/office/drawing/2014/main" xmlns="" val="1738340095"/>
                    </a:ext>
                  </a:extLst>
                </a:gridCol>
                <a:gridCol w="708937">
                  <a:extLst>
                    <a:ext uri="{9D8B030D-6E8A-4147-A177-3AD203B41FA5}">
                      <a16:colId xmlns:a16="http://schemas.microsoft.com/office/drawing/2014/main" xmlns="" val="977680411"/>
                    </a:ext>
                  </a:extLst>
                </a:gridCol>
                <a:gridCol w="708937"/>
                <a:gridCol w="708937">
                  <a:extLst>
                    <a:ext uri="{9D8B030D-6E8A-4147-A177-3AD203B41FA5}">
                      <a16:colId xmlns:a16="http://schemas.microsoft.com/office/drawing/2014/main" xmlns="" val="1910590958"/>
                    </a:ext>
                  </a:extLst>
                </a:gridCol>
                <a:gridCol w="708937"/>
                <a:gridCol w="720131"/>
                <a:gridCol w="697745"/>
                <a:gridCol w="697745"/>
                <a:gridCol w="70893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結束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</a:t>
                      </a:r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製令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穴數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不良數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</a:t>
                      </a:r>
                      <a:endParaRPr lang="en-US" altLang="zh-TW" sz="12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人員</a:t>
                      </a:r>
                      <a:r>
                        <a:rPr lang="en-US" altLang="zh-TW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5937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</a:t>
                      </a:r>
                    </a:p>
                    <a:p>
                      <a:pPr algn="ctr"/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</a:t>
                      </a:r>
                    </a:p>
                    <a:p>
                      <a:pPr algn="ctr"/>
                      <a:r>
                        <a:rPr lang="en-US" altLang="zh-TW" sz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202310120014-001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JK-01044-01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11-2L11M4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Q1234</a:t>
                      </a:r>
                      <a:endParaRPr lang="zh-TW" altLang="en-US" sz="1200" kern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15554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6587390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8"/>
            <a:ext cx="10515600" cy="513416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81A3BBC4-8DEA-4DC2-A49A-7269DD26A538}"/>
              </a:ext>
            </a:extLst>
          </p:cNvPr>
          <p:cNvSpPr txBox="1"/>
          <p:nvPr/>
        </p:nvSpPr>
        <p:spPr>
          <a:xfrm>
            <a:off x="142060" y="579977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b="1" dirty="0" smtClean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連結回生產排程表</a:t>
            </a:r>
            <a:endParaRPr lang="zh-TW" altLang="en-US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4030239" y="989575"/>
            <a:ext cx="8076400" cy="3545849"/>
          </a:xfrm>
          <a:prstGeom prst="roundRect">
            <a:avLst>
              <a:gd name="adj" fmla="val 4053"/>
            </a:avLst>
          </a:prstGeom>
          <a:noFill/>
          <a:ln w="38100">
            <a:solidFill>
              <a:schemeClr val="bg2">
                <a:lumMod val="2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0375" y="1650390"/>
            <a:ext cx="4176464" cy="33239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Step1 :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製令單母批「製令結單」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Step2 :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「結束時間」回傳至「生產排程計畫表」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的「實際完成日」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Step3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Status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」改為「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Done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」，「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Done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」的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這筆資料不顯示於排程畫面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Note : 1.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「實際上機日」尚未填入時，「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Status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則為「尚未上機」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2.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生產排程計畫表中，新增「暫停生產」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與「取消生產」當點選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「暫停生產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」，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Status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」則為「暫停生產」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3.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點選「取消生產」時，這筆資料就不會再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 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顯示於畫面中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67" name="圓角矩形 66"/>
          <p:cNvSpPr/>
          <p:nvPr/>
        </p:nvSpPr>
        <p:spPr>
          <a:xfrm>
            <a:off x="9743157" y="4017546"/>
            <a:ext cx="1065690" cy="39410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開始作業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圓角矩形 69"/>
          <p:cNvSpPr/>
          <p:nvPr/>
        </p:nvSpPr>
        <p:spPr>
          <a:xfrm>
            <a:off x="10961247" y="4011338"/>
            <a:ext cx="1065690" cy="39410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製令結單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10943426" y="3997187"/>
            <a:ext cx="1104723" cy="45529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1" name="矩形 130"/>
          <p:cNvSpPr/>
          <p:nvPr/>
        </p:nvSpPr>
        <p:spPr>
          <a:xfrm>
            <a:off x="10635762" y="3651207"/>
            <a:ext cx="1415772" cy="276999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點選「製令結單」</a:t>
            </a:r>
            <a:endParaRPr lang="en-US" altLang="zh-TW" sz="12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132" name="橢圓 131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735824" y="3351269"/>
            <a:ext cx="293651" cy="2936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40" name="矩形 39"/>
          <p:cNvSpPr/>
          <p:nvPr/>
        </p:nvSpPr>
        <p:spPr>
          <a:xfrm>
            <a:off x="4149447" y="712576"/>
            <a:ext cx="1231427" cy="276999"/>
          </a:xfrm>
          <a:prstGeom prst="rect">
            <a:avLst/>
          </a:prstGeom>
          <a:solidFill>
            <a:srgbClr val="FF66FF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製令單母批</a:t>
            </a:r>
            <a:r>
              <a:rPr lang="en-US" altLang="zh-TW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Lot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8179272" y="5470159"/>
            <a:ext cx="407326" cy="70051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4973538" y="2326908"/>
            <a:ext cx="495710" cy="93064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xmlns="" id="{5025C642-CC55-4FC5-BD41-8F94A9201668}"/>
              </a:ext>
            </a:extLst>
          </p:cNvPr>
          <p:cNvSpPr/>
          <p:nvPr/>
        </p:nvSpPr>
        <p:spPr>
          <a:xfrm>
            <a:off x="11494091" y="5470159"/>
            <a:ext cx="612547" cy="70051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" name="肘形接點 3"/>
          <p:cNvCxnSpPr>
            <a:stCxn id="131" idx="0"/>
          </p:cNvCxnSpPr>
          <p:nvPr/>
        </p:nvCxnSpPr>
        <p:spPr>
          <a:xfrm rot="16200000" flipV="1">
            <a:off x="7976959" y="284518"/>
            <a:ext cx="858978" cy="5874400"/>
          </a:xfrm>
          <a:prstGeom prst="bentConnector2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接點 40"/>
          <p:cNvCxnSpPr>
            <a:stCxn id="36" idx="2"/>
            <a:endCxn id="35" idx="0"/>
          </p:cNvCxnSpPr>
          <p:nvPr/>
        </p:nvCxnSpPr>
        <p:spPr>
          <a:xfrm rot="16200000" flipH="1">
            <a:off x="5695859" y="2783083"/>
            <a:ext cx="2212610" cy="3161542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接點 42"/>
          <p:cNvCxnSpPr>
            <a:stCxn id="35" idx="3"/>
            <a:endCxn id="37" idx="1"/>
          </p:cNvCxnSpPr>
          <p:nvPr/>
        </p:nvCxnSpPr>
        <p:spPr>
          <a:xfrm>
            <a:off x="8586598" y="5820418"/>
            <a:ext cx="2907493" cy="12700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76" y="5256254"/>
            <a:ext cx="12059702" cy="95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603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00"/>
          <a:stretch/>
        </p:blipFill>
        <p:spPr bwMode="auto">
          <a:xfrm>
            <a:off x="101672" y="2763247"/>
            <a:ext cx="11982298" cy="1817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22" y="908659"/>
            <a:ext cx="11956648" cy="153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8"/>
            <a:ext cx="10515600" cy="513416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生產報表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-Sub Lot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30201" y="4599360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Step1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工時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結束時間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-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開始時間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 ex:2023/11/3 20:30-2023/11/3/14:00=6.5hrs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Step2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預計生產數量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模數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/1H *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工時 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ex:12*8=96(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捨去小數點以後位數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)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Step3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生產不良率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不良數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/(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不良數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+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生產數量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)*%</a:t>
            </a: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ex:6/(58+6)=9.38%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Step4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良率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=100%-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不良率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ex:100%-26.69%=70.31%</a:t>
            </a: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Step5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生產數差異值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不良數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+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生產數量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-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預計生產數量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ex:59+5-96=</a:t>
            </a:r>
            <a:r>
              <a:rPr lang="en-US" altLang="zh-TW" sz="1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-32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(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負數時請將數字反紅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)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8898" y="908659"/>
            <a:ext cx="7604566" cy="1565213"/>
          </a:xfrm>
          <a:prstGeom prst="rect">
            <a:avLst/>
          </a:prstGeom>
          <a:solidFill>
            <a:schemeClr val="bg2">
              <a:lumMod val="1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生產報工時已填寫完成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743464" y="897084"/>
            <a:ext cx="2139644" cy="1565213"/>
          </a:xfrm>
          <a:prstGeom prst="rect">
            <a:avLst/>
          </a:prstGeom>
          <a:solidFill>
            <a:schemeClr val="accent2">
              <a:lumMod val="5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系統計算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883108" y="901577"/>
            <a:ext cx="2200861" cy="1565213"/>
          </a:xfrm>
          <a:prstGeom prst="rect">
            <a:avLst/>
          </a:prstGeom>
          <a:solidFill>
            <a:srgbClr val="0000FF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IOT</a:t>
            </a:r>
            <a:r>
              <a:rPr lang="zh-TW" altLang="en-US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相關數據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4171" y="3183036"/>
            <a:ext cx="937551" cy="162046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7942146" y="3184965"/>
            <a:ext cx="871140" cy="160117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9159408" y="3183036"/>
            <a:ext cx="378105" cy="163975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-23150" y="2889385"/>
            <a:ext cx="293651" cy="293651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7876345" y="2889384"/>
            <a:ext cx="293651" cy="293651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8900694" y="2958831"/>
            <a:ext cx="293651" cy="293651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636550" y="4626159"/>
            <a:ext cx="293651" cy="293651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20" name="矩形 19"/>
          <p:cNvSpPr/>
          <p:nvPr/>
        </p:nvSpPr>
        <p:spPr>
          <a:xfrm>
            <a:off x="7018103" y="3596523"/>
            <a:ext cx="378105" cy="1639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9161403" y="3610023"/>
            <a:ext cx="378105" cy="1639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9614753" y="3588798"/>
            <a:ext cx="378105" cy="1639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6657807" y="3424009"/>
            <a:ext cx="293651" cy="2936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8871601" y="3435584"/>
            <a:ext cx="293651" cy="2936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9446908" y="3377134"/>
            <a:ext cx="293651" cy="2936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636550" y="5081112"/>
            <a:ext cx="293651" cy="2936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31" name="矩形 30"/>
          <p:cNvSpPr/>
          <p:nvPr/>
        </p:nvSpPr>
        <p:spPr>
          <a:xfrm>
            <a:off x="6128782" y="4015140"/>
            <a:ext cx="378105" cy="163975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6615579" y="4015140"/>
            <a:ext cx="378105" cy="163975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10658357" y="4038290"/>
            <a:ext cx="378105" cy="163975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636549" y="5506987"/>
            <a:ext cx="293651" cy="293651"/>
          </a:xfrm>
          <a:prstGeom prst="ellipse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5835131" y="3868314"/>
            <a:ext cx="293651" cy="293651"/>
          </a:xfrm>
          <a:prstGeom prst="ellipse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6557483" y="3782578"/>
            <a:ext cx="293651" cy="293651"/>
          </a:xfrm>
          <a:prstGeom prst="ellipse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394063" y="3826626"/>
            <a:ext cx="293651" cy="293651"/>
          </a:xfrm>
          <a:prstGeom prst="ellipse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38" name="矩形 37"/>
          <p:cNvSpPr/>
          <p:nvPr/>
        </p:nvSpPr>
        <p:spPr>
          <a:xfrm>
            <a:off x="11165712" y="4015140"/>
            <a:ext cx="378105" cy="163975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1018886" y="3747852"/>
            <a:ext cx="293651" cy="29365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636550" y="5925817"/>
            <a:ext cx="293651" cy="29365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43" name="矩形 42"/>
          <p:cNvSpPr/>
          <p:nvPr/>
        </p:nvSpPr>
        <p:spPr>
          <a:xfrm>
            <a:off x="6128782" y="4423424"/>
            <a:ext cx="378105" cy="16397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/>
          <p:cNvSpPr/>
          <p:nvPr/>
        </p:nvSpPr>
        <p:spPr>
          <a:xfrm>
            <a:off x="6610216" y="4423424"/>
            <a:ext cx="378105" cy="16397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/>
          <p:cNvSpPr/>
          <p:nvPr/>
        </p:nvSpPr>
        <p:spPr>
          <a:xfrm>
            <a:off x="9593733" y="4411849"/>
            <a:ext cx="378105" cy="16397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636550" y="6358800"/>
            <a:ext cx="293651" cy="2936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5</a:t>
            </a:r>
            <a:endParaRPr lang="zh-TW" altLang="en-US" sz="1400" b="1" dirty="0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5799170" y="4276598"/>
            <a:ext cx="293651" cy="2936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5</a:t>
            </a:r>
            <a:endParaRPr lang="zh-TW" altLang="en-US" sz="1400" b="1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9293389" y="4242102"/>
            <a:ext cx="293651" cy="2936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5</a:t>
            </a:r>
            <a:endParaRPr lang="zh-TW" altLang="en-US" sz="1400" b="1" dirty="0"/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6694670" y="4548717"/>
            <a:ext cx="293651" cy="2936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5</a:t>
            </a:r>
            <a:endParaRPr lang="zh-TW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12270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9241"/>
            <a:ext cx="12136056" cy="1757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8"/>
            <a:ext cx="10515600" cy="513416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生產報表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Lot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2667873" y="3869341"/>
            <a:ext cx="6689973" cy="246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Step1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製令單母批的「生產數量」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所有製令單子批的「生產數量」總和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Step2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令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單母批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的「異常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所有製令單子批的「異常」總和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Step3 : 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令單母批的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「不良數」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所有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製令單子批的「不良數」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總和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Step4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製令單母批的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「工時」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所有製令單子批的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工時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總和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Step5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製令單母批的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「預計生產數量」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所有製令單子批的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預計生產數量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總和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Step6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製令單母批的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「生產數差異值」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所有製令單子批的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生產數差異值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」總和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Step7 :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生產不良率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不良數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/(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不良數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+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生產數量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)*%</a:t>
            </a:r>
          </a:p>
          <a:p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Step8 :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良率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=100%-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不良率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            </a:t>
            </a:r>
          </a:p>
        </p:txBody>
      </p:sp>
      <p:sp>
        <p:nvSpPr>
          <p:cNvPr id="3" name="矩形 2"/>
          <p:cNvSpPr/>
          <p:nvPr/>
        </p:nvSpPr>
        <p:spPr>
          <a:xfrm>
            <a:off x="2430673" y="1551006"/>
            <a:ext cx="474562" cy="1325567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4548838" y="1551007"/>
            <a:ext cx="289368" cy="1325567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/>
          <p:cNvSpPr/>
          <p:nvPr/>
        </p:nvSpPr>
        <p:spPr>
          <a:xfrm>
            <a:off x="7272397" y="1551007"/>
            <a:ext cx="366874" cy="1325568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9751302" y="1551007"/>
            <a:ext cx="366874" cy="1325565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10191481" y="1551006"/>
            <a:ext cx="366874" cy="1348718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/>
          <p:cNvSpPr/>
          <p:nvPr/>
        </p:nvSpPr>
        <p:spPr>
          <a:xfrm>
            <a:off x="10681132" y="1551006"/>
            <a:ext cx="366874" cy="1364147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2283847" y="1321207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4272457" y="1338759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2</a:t>
            </a:r>
            <a:endParaRPr lang="zh-TW" altLang="en-US" sz="1400" b="1" dirty="0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7007591" y="1338758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9457651" y="1332780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158596" y="1257356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5</a:t>
            </a:r>
            <a:endParaRPr lang="zh-TW" altLang="en-US" sz="1400" b="1" dirty="0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570918" y="1321206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6</a:t>
            </a:r>
            <a:endParaRPr lang="zh-TW" altLang="en-US" sz="1400" b="1" dirty="0"/>
          </a:p>
        </p:txBody>
      </p:sp>
      <p:sp>
        <p:nvSpPr>
          <p:cNvPr id="52" name="矩形 51"/>
          <p:cNvSpPr/>
          <p:nvPr/>
        </p:nvSpPr>
        <p:spPr>
          <a:xfrm>
            <a:off x="11103222" y="1350335"/>
            <a:ext cx="506184" cy="2024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/>
        </p:nvSpPr>
        <p:spPr>
          <a:xfrm>
            <a:off x="11696205" y="1348605"/>
            <a:ext cx="506184" cy="20240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2436247" y="3487602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2475073" y="5310683"/>
            <a:ext cx="293651" cy="2936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7</a:t>
            </a:r>
            <a:endParaRPr lang="zh-TW" altLang="en-US" sz="1400" b="1" dirty="0"/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2436247" y="5868197"/>
            <a:ext cx="293651" cy="2936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8</a:t>
            </a:r>
            <a:endParaRPr lang="zh-TW" altLang="en-US" sz="1400" b="1" dirty="0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956396" y="1157885"/>
            <a:ext cx="293651" cy="2936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7</a:t>
            </a:r>
            <a:endParaRPr lang="zh-TW" altLang="en-US" sz="1400" b="1" dirty="0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1609406" y="1054954"/>
            <a:ext cx="293651" cy="2936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8</a:t>
            </a:r>
            <a:endParaRPr lang="zh-TW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195773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585" y="89761"/>
            <a:ext cx="10515600" cy="513416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生產報表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-IOT(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92963" y="585451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機聯網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51" y="5121654"/>
            <a:ext cx="750261" cy="642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xmlns="" id="{B5EF40C8-FC22-48F4-BA3B-B47A72306B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13"/>
          <a:stretch/>
        </p:blipFill>
        <p:spPr>
          <a:xfrm>
            <a:off x="1806998" y="4878024"/>
            <a:ext cx="933450" cy="1952989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1397675" y="4799993"/>
            <a:ext cx="1585947" cy="27699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chemeClr val="bg1"/>
                </a:solidFill>
              </a:rPr>
              <a:t>Name VARCHAR(255) 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66E78434-7739-4869-9832-3E56F8868B2E}"/>
              </a:ext>
            </a:extLst>
          </p:cNvPr>
          <p:cNvSpPr/>
          <p:nvPr/>
        </p:nvSpPr>
        <p:spPr>
          <a:xfrm>
            <a:off x="1825788" y="5955793"/>
            <a:ext cx="880806" cy="156745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114471" y="6162296"/>
            <a:ext cx="2566408" cy="276999"/>
          </a:xfrm>
          <a:prstGeom prst="rect">
            <a:avLst/>
          </a:prstGeom>
          <a:solidFill>
            <a:srgbClr val="0000CC"/>
          </a:solidFill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chemeClr val="bg1"/>
                </a:solidFill>
              </a:rPr>
              <a:t>CURRENT_MODULUS VARCHAR(255) 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xmlns="" id="{E2ED3549-44D8-4A8B-91F5-25DC4AF74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797" y="4826748"/>
            <a:ext cx="2681448" cy="201986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xmlns="" id="{B57C0C4A-C663-442C-A86F-897368837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314" y="4780821"/>
            <a:ext cx="1509352" cy="1253697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xmlns="" id="{305BD417-1ECB-440D-870D-FE03E574037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8182" t="28193" r="32258" b="30827"/>
          <a:stretch/>
        </p:blipFill>
        <p:spPr>
          <a:xfrm>
            <a:off x="6072403" y="4839791"/>
            <a:ext cx="1476732" cy="1170568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66E78434-7739-4869-9832-3E56F8868B2E}"/>
              </a:ext>
            </a:extLst>
          </p:cNvPr>
          <p:cNvSpPr/>
          <p:nvPr/>
        </p:nvSpPr>
        <p:spPr>
          <a:xfrm>
            <a:off x="3212797" y="6434678"/>
            <a:ext cx="2532330" cy="156745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66E78434-7739-4869-9832-3E56F8868B2E}"/>
              </a:ext>
            </a:extLst>
          </p:cNvPr>
          <p:cNvSpPr/>
          <p:nvPr/>
        </p:nvSpPr>
        <p:spPr>
          <a:xfrm>
            <a:off x="6142580" y="5526938"/>
            <a:ext cx="1266165" cy="156745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66E78434-7739-4869-9832-3E56F8868B2E}"/>
              </a:ext>
            </a:extLst>
          </p:cNvPr>
          <p:cNvSpPr/>
          <p:nvPr/>
        </p:nvSpPr>
        <p:spPr>
          <a:xfrm>
            <a:off x="7880314" y="5314831"/>
            <a:ext cx="693471" cy="156745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1818669" y="5113108"/>
            <a:ext cx="585029" cy="13658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7880315" y="4799993"/>
            <a:ext cx="292514" cy="2410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接點: 肘形 18">
            <a:extLst>
              <a:ext uri="{FF2B5EF4-FFF2-40B4-BE49-F238E27FC236}">
                <a16:creationId xmlns:a16="http://schemas.microsoft.com/office/drawing/2014/main" xmlns="" id="{384BC99F-2793-463E-B20F-A2C3FB6BD7FF}"/>
              </a:ext>
            </a:extLst>
          </p:cNvPr>
          <p:cNvCxnSpPr>
            <a:cxnSpLocks/>
            <a:stCxn id="42" idx="2"/>
          </p:cNvCxnSpPr>
          <p:nvPr/>
        </p:nvCxnSpPr>
        <p:spPr>
          <a:xfrm rot="16200000" flipH="1">
            <a:off x="-61636" y="2644657"/>
            <a:ext cx="3547652" cy="842620"/>
          </a:xfrm>
          <a:prstGeom prst="bentConnector3">
            <a:avLst>
              <a:gd name="adj1" fmla="val 50000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接點: 肘形 18">
            <a:extLst>
              <a:ext uri="{FF2B5EF4-FFF2-40B4-BE49-F238E27FC236}">
                <a16:creationId xmlns:a16="http://schemas.microsoft.com/office/drawing/2014/main" xmlns="" id="{384BC99F-2793-463E-B20F-A2C3FB6BD7FF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2706594" y="6034166"/>
            <a:ext cx="506203" cy="478885"/>
          </a:xfrm>
          <a:prstGeom prst="bentConnector3">
            <a:avLst>
              <a:gd name="adj1" fmla="val 50000"/>
            </a:avLst>
          </a:prstGeom>
          <a:ln w="28575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接點: 肘形 18">
            <a:extLst>
              <a:ext uri="{FF2B5EF4-FFF2-40B4-BE49-F238E27FC236}">
                <a16:creationId xmlns:a16="http://schemas.microsoft.com/office/drawing/2014/main" xmlns="" id="{384BC99F-2793-463E-B20F-A2C3FB6BD7FF}"/>
              </a:ext>
            </a:extLst>
          </p:cNvPr>
          <p:cNvCxnSpPr>
            <a:cxnSpLocks/>
            <a:endCxn id="20" idx="1"/>
          </p:cNvCxnSpPr>
          <p:nvPr/>
        </p:nvCxnSpPr>
        <p:spPr>
          <a:xfrm rot="5400000" flipH="1" flipV="1">
            <a:off x="5504716" y="5844795"/>
            <a:ext cx="877348" cy="398380"/>
          </a:xfrm>
          <a:prstGeom prst="bentConnector2">
            <a:avLst/>
          </a:prstGeom>
          <a:ln w="28575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接點: 肘形 18">
            <a:extLst>
              <a:ext uri="{FF2B5EF4-FFF2-40B4-BE49-F238E27FC236}">
                <a16:creationId xmlns:a16="http://schemas.microsoft.com/office/drawing/2014/main" xmlns="" id="{384BC99F-2793-463E-B20F-A2C3FB6BD7FF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7408745" y="5393204"/>
            <a:ext cx="471569" cy="204035"/>
          </a:xfrm>
          <a:prstGeom prst="bentConnector3">
            <a:avLst>
              <a:gd name="adj1" fmla="val 50000"/>
            </a:avLst>
          </a:prstGeom>
          <a:ln w="28575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接點: 肘形 18">
            <a:extLst>
              <a:ext uri="{FF2B5EF4-FFF2-40B4-BE49-F238E27FC236}">
                <a16:creationId xmlns:a16="http://schemas.microsoft.com/office/drawing/2014/main" xmlns="" id="{384BC99F-2793-463E-B20F-A2C3FB6BD7FF}"/>
              </a:ext>
            </a:extLst>
          </p:cNvPr>
          <p:cNvCxnSpPr>
            <a:cxnSpLocks/>
            <a:stCxn id="21" idx="2"/>
            <a:endCxn id="52" idx="2"/>
          </p:cNvCxnSpPr>
          <p:nvPr/>
        </p:nvCxnSpPr>
        <p:spPr>
          <a:xfrm rot="5400000" flipH="1" flipV="1">
            <a:off x="6587917" y="3050862"/>
            <a:ext cx="4059847" cy="781582"/>
          </a:xfrm>
          <a:prstGeom prst="bentConnector3">
            <a:avLst>
              <a:gd name="adj1" fmla="val -5631"/>
            </a:avLst>
          </a:prstGeom>
          <a:ln w="28575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173753" y="4584373"/>
            <a:ext cx="293651" cy="2936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285518" y="5861581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2</a:t>
            </a:r>
            <a:endParaRPr lang="zh-TW" altLang="en-US" sz="1400" b="1" dirty="0"/>
          </a:p>
        </p:txBody>
      </p:sp>
      <p:sp>
        <p:nvSpPr>
          <p:cNvPr id="3" name="矩形 2"/>
          <p:cNvSpPr/>
          <p:nvPr/>
        </p:nvSpPr>
        <p:spPr>
          <a:xfrm>
            <a:off x="3212796" y="2803036"/>
            <a:ext cx="88572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Step1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依據機台號碼「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C2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可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串聯機聯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網取得機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台資訊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。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Step2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透過機聯網找出生產日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報表「開始時間」與「結束時間」，找出對應當時的作業模數，並把兩者相減則得到機台生產模數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Step3 : 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機台生產數量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機台生產模數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*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穴數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Step4 : 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實際不良率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=(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機台生產數量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-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生產數量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)/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機台生產數量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Step5 : 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機台模式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Step6 : 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生產數差異值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「生產數量」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+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「不良數」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-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「預計生產數量」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1116603" y="1116968"/>
            <a:ext cx="348553" cy="17517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268624" y="6439295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2681396" y="3134789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2</a:t>
            </a:r>
            <a:endParaRPr lang="zh-TW" altLang="en-US" sz="1400" b="1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2956446" y="2785280"/>
            <a:ext cx="293651" cy="2936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2968637" y="3485381"/>
            <a:ext cx="293651" cy="29365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2993600" y="3136263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8227049" y="1263565"/>
            <a:ext cx="1563165" cy="148164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8139685" y="1035854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8905515" y="1035853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3</a:t>
            </a:r>
            <a:endParaRPr lang="zh-TW" altLang="en-US" sz="1400" b="1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9901535" y="1270265"/>
            <a:ext cx="467284" cy="152401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368819" y="1035852"/>
            <a:ext cx="293651" cy="29365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3192968" y="5499503"/>
            <a:ext cx="2425214" cy="105808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2956445" y="3894380"/>
            <a:ext cx="293651" cy="293651"/>
          </a:xfrm>
          <a:prstGeom prst="ellipse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5</a:t>
            </a:r>
            <a:endParaRPr lang="zh-TW" altLang="en-US" sz="1400" b="1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7811980" y="2236170"/>
            <a:ext cx="467284" cy="152401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1" name="接點: 肘形 18">
            <a:extLst>
              <a:ext uri="{FF2B5EF4-FFF2-40B4-BE49-F238E27FC236}">
                <a16:creationId xmlns:a16="http://schemas.microsoft.com/office/drawing/2014/main" xmlns="" id="{384BC99F-2793-463E-B20F-A2C3FB6BD7FF}"/>
              </a:ext>
            </a:extLst>
          </p:cNvPr>
          <p:cNvCxnSpPr>
            <a:cxnSpLocks/>
            <a:stCxn id="68" idx="0"/>
            <a:endCxn id="70" idx="2"/>
          </p:cNvCxnSpPr>
          <p:nvPr/>
        </p:nvCxnSpPr>
        <p:spPr>
          <a:xfrm rot="5400000" flipH="1" flipV="1">
            <a:off x="4670132" y="2124014"/>
            <a:ext cx="3110932" cy="3640047"/>
          </a:xfrm>
          <a:prstGeom prst="bentConnector3">
            <a:avLst>
              <a:gd name="adj1" fmla="val 50000"/>
            </a:avLst>
          </a:prstGeom>
          <a:ln w="28575">
            <a:solidFill>
              <a:srgbClr val="FF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橢圓 50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7617080" y="2007849"/>
            <a:ext cx="293651" cy="293651"/>
          </a:xfrm>
          <a:prstGeom prst="ellipse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5</a:t>
            </a:r>
            <a:endParaRPr lang="zh-TW" altLang="en-US" sz="1400" b="1" dirty="0"/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2968637" y="4263711"/>
            <a:ext cx="293651" cy="29365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6</a:t>
            </a:r>
            <a:endParaRPr lang="zh-TW" altLang="en-US" sz="1400" b="1" dirty="0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5968308" y="2094920"/>
            <a:ext cx="293651" cy="29365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6</a:t>
            </a:r>
            <a:endParaRPr lang="zh-TW" altLang="en-US" sz="1400" b="1" dirty="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6196783" y="2225299"/>
            <a:ext cx="467284" cy="152401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857515"/>
            <a:ext cx="11925112" cy="1847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160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585" y="89761"/>
            <a:ext cx="10515600" cy="513416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生產報表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-IOT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00932" y="3860264"/>
            <a:ext cx="63701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Step1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依據機台號碼「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C2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可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串聯機聯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網取得機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台資訊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。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Step2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透過機聯網找出生產日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報表「開始時間」與「結束時間」，找出對應當時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的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稼動率</a:t>
            </a:r>
            <a:r>
              <a:rPr lang="en-US" altLang="zh-TW" sz="12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(</a:t>
            </a:r>
            <a:r>
              <a:rPr lang="zh-TW" altLang="en-US" sz="12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以</a:t>
            </a:r>
            <a:r>
              <a:rPr lang="en-US" altLang="zh-TW" sz="12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24</a:t>
            </a:r>
            <a:r>
              <a:rPr lang="zh-TW" altLang="en-US" sz="12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小時去計算</a:t>
            </a:r>
            <a:r>
              <a:rPr lang="en-US" altLang="zh-TW" sz="12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)</a:t>
            </a:r>
          </a:p>
          <a:p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Step3 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: 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產能效率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=(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「生產數量」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+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「不良數」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)/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「預計生產數量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Step4 : OEE=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「稼動率」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*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「產能效率」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*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「生產良率」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857515"/>
            <a:ext cx="11925112" cy="1847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791" y="3602735"/>
            <a:ext cx="2035399" cy="1715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橢圓 48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36888" y="3565638"/>
            <a:ext cx="293651" cy="2936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1330539" y="3712464"/>
            <a:ext cx="507405" cy="38149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844342" y="1607609"/>
            <a:ext cx="293651" cy="2936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1081216" y="1818442"/>
            <a:ext cx="466450" cy="19074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2" name="接點: 肘形 18">
            <a:extLst>
              <a:ext uri="{FF2B5EF4-FFF2-40B4-BE49-F238E27FC236}">
                <a16:creationId xmlns:a16="http://schemas.microsoft.com/office/drawing/2014/main" xmlns="" id="{384BC99F-2793-463E-B20F-A2C3FB6BD7FF}"/>
              </a:ext>
            </a:extLst>
          </p:cNvPr>
          <p:cNvCxnSpPr>
            <a:cxnSpLocks/>
            <a:stCxn id="61" idx="2"/>
          </p:cNvCxnSpPr>
          <p:nvPr/>
        </p:nvCxnSpPr>
        <p:spPr>
          <a:xfrm rot="16200000" flipH="1">
            <a:off x="597703" y="2725925"/>
            <a:ext cx="1703275" cy="269799"/>
          </a:xfrm>
          <a:prstGeom prst="bentConnector3">
            <a:avLst>
              <a:gd name="adj1" fmla="val 50000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1881787" y="4839875"/>
            <a:ext cx="507405" cy="381492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4" name="接點: 肘形 18">
            <a:extLst>
              <a:ext uri="{FF2B5EF4-FFF2-40B4-BE49-F238E27FC236}">
                <a16:creationId xmlns:a16="http://schemas.microsoft.com/office/drawing/2014/main" xmlns="" id="{384BC99F-2793-463E-B20F-A2C3FB6BD7FF}"/>
              </a:ext>
            </a:extLst>
          </p:cNvPr>
          <p:cNvCxnSpPr>
            <a:cxnSpLocks/>
            <a:stCxn id="63" idx="0"/>
            <a:endCxn id="65" idx="1"/>
          </p:cNvCxnSpPr>
          <p:nvPr/>
        </p:nvCxnSpPr>
        <p:spPr>
          <a:xfrm rot="5400000" flipH="1" flipV="1">
            <a:off x="4815586" y="-761883"/>
            <a:ext cx="2921663" cy="8281855"/>
          </a:xfrm>
          <a:prstGeom prst="bentConnector2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10417345" y="1827237"/>
            <a:ext cx="507405" cy="181949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4007281" y="3846546"/>
            <a:ext cx="293651" cy="2936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73" name="橢圓 72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734961" y="4546225"/>
            <a:ext cx="293651" cy="293651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2</a:t>
            </a:r>
            <a:endParaRPr lang="zh-TW" altLang="en-US" sz="1400" b="1" dirty="0"/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4007280" y="4215998"/>
            <a:ext cx="293651" cy="293651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2</a:t>
            </a:r>
            <a:endParaRPr lang="zh-TW" altLang="en-US" sz="1400" b="1" dirty="0"/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0270519" y="1533586"/>
            <a:ext cx="293651" cy="293651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2</a:t>
            </a:r>
            <a:endParaRPr lang="zh-TW" altLang="en-US" sz="1400" b="1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11045429" y="2115864"/>
            <a:ext cx="507405" cy="18194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4797029" y="2116416"/>
            <a:ext cx="369331" cy="18194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5251181" y="2113368"/>
            <a:ext cx="369331" cy="18194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5687045" y="2110320"/>
            <a:ext cx="369331" cy="18194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4007279" y="4587054"/>
            <a:ext cx="293651" cy="29365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4453330" y="2110320"/>
            <a:ext cx="293651" cy="29365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1152305" y="2322400"/>
            <a:ext cx="293651" cy="29365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86" name="橢圓 85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4007278" y="4963327"/>
            <a:ext cx="293651" cy="293651"/>
          </a:xfrm>
          <a:prstGeom prst="ellipse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87" name="橢圓 86">
            <a:extLst>
              <a:ext uri="{FF2B5EF4-FFF2-40B4-BE49-F238E27FC236}">
                <a16:creationId xmlns:a16="http://schemas.microsoft.com/office/drawing/2014/main" xmlns="" id="{EF71C1FE-C998-4E73-AE8B-2F5E0049387B}"/>
              </a:ext>
            </a:extLst>
          </p:cNvPr>
          <p:cNvSpPr/>
          <p:nvPr/>
        </p:nvSpPr>
        <p:spPr>
          <a:xfrm>
            <a:off x="11676314" y="2750716"/>
            <a:ext cx="293651" cy="293651"/>
          </a:xfrm>
          <a:prstGeom prst="ellipse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4</a:t>
            </a:r>
            <a:endParaRPr lang="zh-TW" altLang="en-US" sz="1400" b="1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xmlns="" id="{8147D84E-1C95-4BD1-9290-E5ECCDEFE1CF}"/>
              </a:ext>
            </a:extLst>
          </p:cNvPr>
          <p:cNvSpPr/>
          <p:nvPr/>
        </p:nvSpPr>
        <p:spPr>
          <a:xfrm>
            <a:off x="11629730" y="2534220"/>
            <a:ext cx="350245" cy="181949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087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表格 9">
            <a:extLst>
              <a:ext uri="{FF2B5EF4-FFF2-40B4-BE49-F238E27FC236}">
                <a16:creationId xmlns="" xmlns:a16="http://schemas.microsoft.com/office/drawing/2014/main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109964"/>
              </p:ext>
            </p:extLst>
          </p:nvPr>
        </p:nvGraphicFramePr>
        <p:xfrm>
          <a:off x="4881440" y="4963441"/>
          <a:ext cx="6447944" cy="76422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993"/>
                <a:gridCol w="805993">
                  <a:extLst>
                    <a:ext uri="{9D8B030D-6E8A-4147-A177-3AD203B41FA5}">
                      <a16:colId xmlns="" xmlns:a16="http://schemas.microsoft.com/office/drawing/2014/main" val="1632906908"/>
                    </a:ext>
                  </a:extLst>
                </a:gridCol>
                <a:gridCol w="805993"/>
                <a:gridCol w="805993">
                  <a:extLst>
                    <a:ext uri="{9D8B030D-6E8A-4147-A177-3AD203B41FA5}">
                      <a16:colId xmlns="" xmlns:a16="http://schemas.microsoft.com/office/drawing/2014/main" val="1738340095"/>
                    </a:ext>
                  </a:extLst>
                </a:gridCol>
                <a:gridCol w="805993">
                  <a:extLst>
                    <a:ext uri="{9D8B030D-6E8A-4147-A177-3AD203B41FA5}">
                      <a16:colId xmlns="" xmlns:a16="http://schemas.microsoft.com/office/drawing/2014/main" val="977680411"/>
                    </a:ext>
                  </a:extLst>
                </a:gridCol>
                <a:gridCol w="805993">
                  <a:extLst>
                    <a:ext uri="{9D8B030D-6E8A-4147-A177-3AD203B41FA5}">
                      <a16:colId xmlns="" xmlns:a16="http://schemas.microsoft.com/office/drawing/2014/main" val="1910590958"/>
                    </a:ext>
                  </a:extLst>
                </a:gridCol>
                <a:gridCol w="805993">
                  <a:extLst>
                    <a:ext uri="{9D8B030D-6E8A-4147-A177-3AD203B41FA5}">
                      <a16:colId xmlns="" xmlns:a16="http://schemas.microsoft.com/office/drawing/2014/main" val="3711883912"/>
                    </a:ext>
                  </a:extLst>
                </a:gridCol>
                <a:gridCol w="80599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機台編號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時段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烘料桶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模溫機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料管溫度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成型條件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確認人員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059370313"/>
                  </a:ext>
                </a:extLst>
              </a:tr>
              <a:tr h="3933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Q1234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36587390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="" xmlns:a16="http://schemas.microsoft.com/office/drawing/2014/main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8"/>
            <a:ext cx="10515600" cy="513416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="" xmlns:a16="http://schemas.microsoft.com/office/drawing/2014/main" id="{81A3BBC4-8DEA-4DC2-A49A-7269DD26A538}"/>
              </a:ext>
            </a:extLst>
          </p:cNvPr>
          <p:cNvSpPr txBox="1"/>
          <p:nvPr/>
        </p:nvSpPr>
        <p:spPr>
          <a:xfrm>
            <a:off x="797858" y="267788"/>
            <a:ext cx="2448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生產日報記錄表資料來源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928495" y="2139517"/>
            <a:ext cx="8076400" cy="4607511"/>
          </a:xfrm>
          <a:prstGeom prst="roundRect">
            <a:avLst>
              <a:gd name="adj" fmla="val 4053"/>
            </a:avLst>
          </a:prstGeom>
          <a:noFill/>
          <a:ln w="38100">
            <a:solidFill>
              <a:schemeClr val="bg2">
                <a:lumMod val="2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97939" y="2698042"/>
            <a:ext cx="3799245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生產前確認機台狀態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確認時機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固定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為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09:00-14:59</a:t>
            </a: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13:00-16:59</a:t>
            </a: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17:00-20:59</a:t>
            </a: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21:00-00:59</a:t>
            </a: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01:00-04:59</a:t>
            </a: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05:00-08:59</a:t>
            </a: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6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個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時段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Step1 : 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人員輸入機台編號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Step2 : 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系統帶入今天日期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Step3 : 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當下時間到「對應時段」顯示出「時段時間」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Step4 : 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人員點選打「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v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」欄位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Step5 : 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輸入確認人員姓名或工號</a:t>
            </a:r>
            <a:endParaRPr lang="en-US" altLang="zh-TW" sz="1200" b="1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</p:txBody>
      </p:sp>
      <p:graphicFrame>
        <p:nvGraphicFramePr>
          <p:cNvPr id="47" name="表格 9">
            <a:extLst>
              <a:ext uri="{FF2B5EF4-FFF2-40B4-BE49-F238E27FC236}">
                <a16:creationId xmlns="" xmlns:a16="http://schemas.microsoft.com/office/drawing/2014/main" id="{6E17E979-F287-41C8-ADAD-7E184C8E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262849"/>
              </p:ext>
            </p:extLst>
          </p:nvPr>
        </p:nvGraphicFramePr>
        <p:xfrm>
          <a:off x="4888844" y="2999929"/>
          <a:ext cx="6447944" cy="79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993"/>
                <a:gridCol w="805993">
                  <a:extLst>
                    <a:ext uri="{9D8B030D-6E8A-4147-A177-3AD203B41FA5}">
                      <a16:colId xmlns="" xmlns:a16="http://schemas.microsoft.com/office/drawing/2014/main" val="1632906908"/>
                    </a:ext>
                  </a:extLst>
                </a:gridCol>
                <a:gridCol w="805993"/>
                <a:gridCol w="805993">
                  <a:extLst>
                    <a:ext uri="{9D8B030D-6E8A-4147-A177-3AD203B41FA5}">
                      <a16:colId xmlns="" xmlns:a16="http://schemas.microsoft.com/office/drawing/2014/main" val="1738340095"/>
                    </a:ext>
                  </a:extLst>
                </a:gridCol>
                <a:gridCol w="805993">
                  <a:extLst>
                    <a:ext uri="{9D8B030D-6E8A-4147-A177-3AD203B41FA5}">
                      <a16:colId xmlns="" xmlns:a16="http://schemas.microsoft.com/office/drawing/2014/main" val="977680411"/>
                    </a:ext>
                  </a:extLst>
                </a:gridCol>
                <a:gridCol w="805993">
                  <a:extLst>
                    <a:ext uri="{9D8B030D-6E8A-4147-A177-3AD203B41FA5}">
                      <a16:colId xmlns="" xmlns:a16="http://schemas.microsoft.com/office/drawing/2014/main" val="1910590958"/>
                    </a:ext>
                  </a:extLst>
                </a:gridCol>
                <a:gridCol w="805993">
                  <a:extLst>
                    <a:ext uri="{9D8B030D-6E8A-4147-A177-3AD203B41FA5}">
                      <a16:colId xmlns="" xmlns:a16="http://schemas.microsoft.com/office/drawing/2014/main" val="3711883912"/>
                    </a:ext>
                  </a:extLst>
                </a:gridCol>
                <a:gridCol w="80599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機台編號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時段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烘料桶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模溫機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料管溫度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成型條件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確認人員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059370313"/>
                  </a:ext>
                </a:extLst>
              </a:tr>
              <a:tr h="3933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09:00-14:59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Q1234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36587390"/>
                  </a:ext>
                </a:extLst>
              </a:tr>
            </a:tbl>
          </a:graphicData>
        </a:graphic>
      </p:graphicFrame>
      <p:pic>
        <p:nvPicPr>
          <p:cNvPr id="6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0" b="3304"/>
          <a:stretch/>
        </p:blipFill>
        <p:spPr bwMode="auto">
          <a:xfrm>
            <a:off x="1469574" y="595537"/>
            <a:ext cx="8101120" cy="1407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7" name="矩形 66"/>
          <p:cNvSpPr/>
          <p:nvPr/>
        </p:nvSpPr>
        <p:spPr>
          <a:xfrm>
            <a:off x="4409061" y="3852195"/>
            <a:ext cx="1415772" cy="276999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系統帶入今天日期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86798" y="3403797"/>
            <a:ext cx="579500" cy="31316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橢圓 70">
            <a:extLst>
              <a:ext uri="{FF2B5EF4-FFF2-40B4-BE49-F238E27FC236}">
                <a16:creationId xmlns="" xmlns:a16="http://schemas.microsoft.com/office/drawing/2014/main" id="{EF71C1FE-C998-4E73-AE8B-2F5E0049387B}"/>
              </a:ext>
            </a:extLst>
          </p:cNvPr>
          <p:cNvSpPr/>
          <p:nvPr/>
        </p:nvSpPr>
        <p:spPr>
          <a:xfrm>
            <a:off x="4693147" y="3159698"/>
            <a:ext cx="293651" cy="2936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72" name="文字方塊 71">
            <a:extLst>
              <a:ext uri="{FF2B5EF4-FFF2-40B4-BE49-F238E27FC236}">
                <a16:creationId xmlns="" xmlns:a16="http://schemas.microsoft.com/office/drawing/2014/main" id="{81A3BBC4-8DEA-4DC2-A49A-7269DD26A538}"/>
              </a:ext>
            </a:extLst>
          </p:cNvPr>
          <p:cNvSpPr txBox="1"/>
          <p:nvPr/>
        </p:nvSpPr>
        <p:spPr>
          <a:xfrm>
            <a:off x="4881097" y="2666255"/>
            <a:ext cx="1422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現在時間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10:15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806335" y="3399615"/>
            <a:ext cx="579500" cy="313164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橢圓 73">
            <a:extLst>
              <a:ext uri="{FF2B5EF4-FFF2-40B4-BE49-F238E27FC236}">
                <a16:creationId xmlns="" xmlns:a16="http://schemas.microsoft.com/office/drawing/2014/main" id="{EF71C1FE-C998-4E73-AE8B-2F5E0049387B}"/>
              </a:ext>
            </a:extLst>
          </p:cNvPr>
          <p:cNvSpPr/>
          <p:nvPr/>
        </p:nvSpPr>
        <p:spPr>
          <a:xfrm>
            <a:off x="6328940" y="3159697"/>
            <a:ext cx="293651" cy="293651"/>
          </a:xfrm>
          <a:prstGeom prst="ellipse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75" name="矩形 74"/>
          <p:cNvSpPr/>
          <p:nvPr/>
        </p:nvSpPr>
        <p:spPr>
          <a:xfrm>
            <a:off x="6622591" y="3400544"/>
            <a:ext cx="630466" cy="31316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/>
        </p:nvSpPr>
        <p:spPr>
          <a:xfrm>
            <a:off x="6259974" y="2701045"/>
            <a:ext cx="2492990" cy="276999"/>
          </a:xfrm>
          <a:prstGeom prst="rect">
            <a:avLst/>
          </a:prstGeom>
          <a:solidFill>
            <a:srgbClr val="FF66FF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與當下時間比對，顯示對應的時段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096085" y="4072391"/>
            <a:ext cx="2492990" cy="276999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與當下時間比對，顯示對應的時段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="" xmlns:a16="http://schemas.microsoft.com/office/drawing/2014/main" id="{EF71C1FE-C998-4E73-AE8B-2F5E0049387B}"/>
              </a:ext>
            </a:extLst>
          </p:cNvPr>
          <p:cNvSpPr/>
          <p:nvPr/>
        </p:nvSpPr>
        <p:spPr>
          <a:xfrm>
            <a:off x="6622590" y="3712779"/>
            <a:ext cx="293651" cy="2936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89" name="矩形 88"/>
          <p:cNvSpPr/>
          <p:nvPr/>
        </p:nvSpPr>
        <p:spPr>
          <a:xfrm>
            <a:off x="4410535" y="5806829"/>
            <a:ext cx="1415772" cy="276999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系統帶入今天日期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4988272" y="5358431"/>
            <a:ext cx="579500" cy="31316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橢圓 93">
            <a:extLst>
              <a:ext uri="{FF2B5EF4-FFF2-40B4-BE49-F238E27FC236}">
                <a16:creationId xmlns="" xmlns:a16="http://schemas.microsoft.com/office/drawing/2014/main" id="{EF71C1FE-C998-4E73-AE8B-2F5E0049387B}"/>
              </a:ext>
            </a:extLst>
          </p:cNvPr>
          <p:cNvSpPr/>
          <p:nvPr/>
        </p:nvSpPr>
        <p:spPr>
          <a:xfrm>
            <a:off x="4694621" y="5114332"/>
            <a:ext cx="293651" cy="2936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1</a:t>
            </a:r>
            <a:endParaRPr lang="zh-TW" altLang="en-US" sz="1400" b="1" dirty="0"/>
          </a:p>
        </p:txBody>
      </p:sp>
      <p:sp>
        <p:nvSpPr>
          <p:cNvPr id="95" name="文字方塊 94">
            <a:extLst>
              <a:ext uri="{FF2B5EF4-FFF2-40B4-BE49-F238E27FC236}">
                <a16:creationId xmlns="" xmlns:a16="http://schemas.microsoft.com/office/drawing/2014/main" id="{81A3BBC4-8DEA-4DC2-A49A-7269DD26A538}"/>
              </a:ext>
            </a:extLst>
          </p:cNvPr>
          <p:cNvSpPr txBox="1"/>
          <p:nvPr/>
        </p:nvSpPr>
        <p:spPr>
          <a:xfrm>
            <a:off x="4882571" y="4620889"/>
            <a:ext cx="1422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現在時間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15:20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5807809" y="5354249"/>
            <a:ext cx="579500" cy="313164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橢圓 104">
            <a:extLst>
              <a:ext uri="{FF2B5EF4-FFF2-40B4-BE49-F238E27FC236}">
                <a16:creationId xmlns="" xmlns:a16="http://schemas.microsoft.com/office/drawing/2014/main" id="{EF71C1FE-C998-4E73-AE8B-2F5E0049387B}"/>
              </a:ext>
            </a:extLst>
          </p:cNvPr>
          <p:cNvSpPr/>
          <p:nvPr/>
        </p:nvSpPr>
        <p:spPr>
          <a:xfrm>
            <a:off x="6330414" y="5114331"/>
            <a:ext cx="293651" cy="293651"/>
          </a:xfrm>
          <a:prstGeom prst="ellipse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2</a:t>
            </a:r>
            <a:endParaRPr lang="zh-TW" altLang="en-US" sz="1400" b="1" dirty="0"/>
          </a:p>
        </p:txBody>
      </p:sp>
      <p:sp>
        <p:nvSpPr>
          <p:cNvPr id="106" name="矩形 105"/>
          <p:cNvSpPr/>
          <p:nvPr/>
        </p:nvSpPr>
        <p:spPr>
          <a:xfrm>
            <a:off x="6624064" y="5355178"/>
            <a:ext cx="628993" cy="31316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矩形 106"/>
          <p:cNvSpPr/>
          <p:nvPr/>
        </p:nvSpPr>
        <p:spPr>
          <a:xfrm>
            <a:off x="6261448" y="4655679"/>
            <a:ext cx="2492990" cy="276999"/>
          </a:xfrm>
          <a:prstGeom prst="rect">
            <a:avLst/>
          </a:prstGeom>
          <a:solidFill>
            <a:srgbClr val="FF66FF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與當下時間比對，顯示對應的時段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6097559" y="6001957"/>
            <a:ext cx="2492990" cy="276999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與當下時間比對，顯示對應的時段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9" name="橢圓 108">
            <a:extLst>
              <a:ext uri="{FF2B5EF4-FFF2-40B4-BE49-F238E27FC236}">
                <a16:creationId xmlns="" xmlns:a16="http://schemas.microsoft.com/office/drawing/2014/main" id="{EF71C1FE-C998-4E73-AE8B-2F5E0049387B}"/>
              </a:ext>
            </a:extLst>
          </p:cNvPr>
          <p:cNvSpPr/>
          <p:nvPr/>
        </p:nvSpPr>
        <p:spPr>
          <a:xfrm>
            <a:off x="6624064" y="5667413"/>
            <a:ext cx="293651" cy="2936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3</a:t>
            </a:r>
            <a:endParaRPr lang="zh-TW" altLang="en-US" sz="1400" b="1" dirty="0"/>
          </a:p>
        </p:txBody>
      </p:sp>
      <p:sp>
        <p:nvSpPr>
          <p:cNvPr id="110" name="文字方塊 109">
            <a:extLst>
              <a:ext uri="{FF2B5EF4-FFF2-40B4-BE49-F238E27FC236}">
                <a16:creationId xmlns="" xmlns:a16="http://schemas.microsoft.com/office/drawing/2014/main" id="{81A3BBC4-8DEA-4DC2-A49A-7269DD26A538}"/>
              </a:ext>
            </a:extLst>
          </p:cNvPr>
          <p:cNvSpPr txBox="1"/>
          <p:nvPr/>
        </p:nvSpPr>
        <p:spPr>
          <a:xfrm>
            <a:off x="4313096" y="2405083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範例一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文字方塊 110">
            <a:extLst>
              <a:ext uri="{FF2B5EF4-FFF2-40B4-BE49-F238E27FC236}">
                <a16:creationId xmlns="" xmlns:a16="http://schemas.microsoft.com/office/drawing/2014/main" id="{81A3BBC4-8DEA-4DC2-A49A-7269DD26A538}"/>
              </a:ext>
            </a:extLst>
          </p:cNvPr>
          <p:cNvSpPr txBox="1"/>
          <p:nvPr/>
        </p:nvSpPr>
        <p:spPr>
          <a:xfrm>
            <a:off x="4308906" y="4349390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範例二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7381850" y="3403797"/>
            <a:ext cx="3049412" cy="313164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6" name="矩形 115"/>
          <p:cNvSpPr/>
          <p:nvPr/>
        </p:nvSpPr>
        <p:spPr>
          <a:xfrm>
            <a:off x="7381850" y="5367309"/>
            <a:ext cx="3049412" cy="313164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矩形 116"/>
          <p:cNvSpPr/>
          <p:nvPr/>
        </p:nvSpPr>
        <p:spPr>
          <a:xfrm>
            <a:off x="8450172" y="3767779"/>
            <a:ext cx="1653017" cy="276999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人員點選打「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v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」欄位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8380605" y="5725061"/>
            <a:ext cx="1653017" cy="276999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人員點選打「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v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」欄位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橢圓 118">
            <a:extLst>
              <a:ext uri="{FF2B5EF4-FFF2-40B4-BE49-F238E27FC236}">
                <a16:creationId xmlns="" xmlns:a16="http://schemas.microsoft.com/office/drawing/2014/main" id="{EF71C1FE-C998-4E73-AE8B-2F5E0049387B}"/>
              </a:ext>
            </a:extLst>
          </p:cNvPr>
          <p:cNvSpPr/>
          <p:nvPr/>
        </p:nvSpPr>
        <p:spPr>
          <a:xfrm>
            <a:off x="8126110" y="3742353"/>
            <a:ext cx="293651" cy="29365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4</a:t>
            </a:r>
            <a:endParaRPr lang="zh-TW" altLang="en-US" sz="1400" b="1" dirty="0"/>
          </a:p>
        </p:txBody>
      </p:sp>
      <p:sp>
        <p:nvSpPr>
          <p:cNvPr id="120" name="橢圓 119">
            <a:extLst>
              <a:ext uri="{FF2B5EF4-FFF2-40B4-BE49-F238E27FC236}">
                <a16:creationId xmlns="" xmlns:a16="http://schemas.microsoft.com/office/drawing/2014/main" id="{EF71C1FE-C998-4E73-AE8B-2F5E0049387B}"/>
              </a:ext>
            </a:extLst>
          </p:cNvPr>
          <p:cNvSpPr/>
          <p:nvPr/>
        </p:nvSpPr>
        <p:spPr>
          <a:xfrm>
            <a:off x="8086954" y="5680473"/>
            <a:ext cx="293651" cy="29365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4</a:t>
            </a:r>
            <a:endParaRPr lang="zh-TW" altLang="en-US" sz="1400" b="1" dirty="0"/>
          </a:p>
        </p:txBody>
      </p:sp>
      <p:sp>
        <p:nvSpPr>
          <p:cNvPr id="37" name="矩形 36"/>
          <p:cNvSpPr/>
          <p:nvPr/>
        </p:nvSpPr>
        <p:spPr>
          <a:xfrm>
            <a:off x="10564364" y="3397119"/>
            <a:ext cx="738326" cy="313164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/>
          <p:cNvSpPr/>
          <p:nvPr/>
        </p:nvSpPr>
        <p:spPr>
          <a:xfrm>
            <a:off x="10564364" y="5360570"/>
            <a:ext cx="738326" cy="313164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10255589" y="3767779"/>
            <a:ext cx="1569660" cy="276999"/>
          </a:xfrm>
          <a:prstGeom prst="rect">
            <a:avLst/>
          </a:prstGeom>
          <a:solidFill>
            <a:srgbClr val="0000CC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輸入人員姓名或工號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0273537" y="5725061"/>
            <a:ext cx="1569660" cy="276999"/>
          </a:xfrm>
          <a:prstGeom prst="rect">
            <a:avLst/>
          </a:prstGeom>
          <a:solidFill>
            <a:srgbClr val="0000CC"/>
          </a:solidFill>
        </p:spPr>
        <p:txBody>
          <a:bodyPr wrap="none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輸入人員姓名或工號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="" xmlns:a16="http://schemas.microsoft.com/office/drawing/2014/main" id="{EF71C1FE-C998-4E73-AE8B-2F5E0049387B}"/>
              </a:ext>
            </a:extLst>
          </p:cNvPr>
          <p:cNvSpPr/>
          <p:nvPr/>
        </p:nvSpPr>
        <p:spPr>
          <a:xfrm>
            <a:off x="11367939" y="3474128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5</a:t>
            </a:r>
            <a:endParaRPr lang="zh-TW" altLang="en-US" sz="1400" b="1" dirty="0"/>
          </a:p>
        </p:txBody>
      </p:sp>
      <p:sp>
        <p:nvSpPr>
          <p:cNvPr id="42" name="橢圓 41">
            <a:extLst>
              <a:ext uri="{FF2B5EF4-FFF2-40B4-BE49-F238E27FC236}">
                <a16:creationId xmlns="" xmlns:a16="http://schemas.microsoft.com/office/drawing/2014/main" id="{EF71C1FE-C998-4E73-AE8B-2F5E0049387B}"/>
              </a:ext>
            </a:extLst>
          </p:cNvPr>
          <p:cNvSpPr/>
          <p:nvPr/>
        </p:nvSpPr>
        <p:spPr>
          <a:xfrm>
            <a:off x="11367939" y="5423952"/>
            <a:ext cx="293651" cy="293651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5</a:t>
            </a:r>
            <a:endParaRPr lang="zh-TW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1236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A50C1A3-C56E-44EB-9F22-BDACDFF5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8"/>
            <a:ext cx="10515600" cy="513416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報工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生產報表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可視化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(2</a:t>
            </a:r>
            <a:r>
              <a:rPr lang="en-US" altLang="zh-TW" sz="2800" baseline="30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nd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5" name="圖表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9719822"/>
              </p:ext>
            </p:extLst>
          </p:nvPr>
        </p:nvGraphicFramePr>
        <p:xfrm>
          <a:off x="291296" y="1261641"/>
          <a:ext cx="5820137" cy="3688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6" name="圖表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556044"/>
              </p:ext>
            </p:extLst>
          </p:nvPr>
        </p:nvGraphicFramePr>
        <p:xfrm>
          <a:off x="6080566" y="1159399"/>
          <a:ext cx="5820137" cy="3688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4" name="直線接點 3"/>
          <p:cNvCxnSpPr/>
          <p:nvPr/>
        </p:nvCxnSpPr>
        <p:spPr>
          <a:xfrm>
            <a:off x="937549" y="2419109"/>
            <a:ext cx="384279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6576349" y="2293717"/>
            <a:ext cx="384279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4780344" y="2257593"/>
            <a:ext cx="10113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Target:95%</a:t>
            </a:r>
            <a:endParaRPr lang="zh-TW" alt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10558040" y="2155217"/>
            <a:ext cx="10113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Target:95%</a:t>
            </a:r>
            <a:endParaRPr lang="zh-TW" alt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231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6778</TotalTime>
  <Words>2922</Words>
  <Application>Microsoft Office PowerPoint</Application>
  <PresentationFormat>自訂</PresentationFormat>
  <Paragraphs>929</Paragraphs>
  <Slides>14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Office 佈景主題</vt:lpstr>
      <vt:lpstr>報工系統-生產日報記錄表(E化)</vt:lpstr>
      <vt:lpstr>報工系統-生產日報記錄表</vt:lpstr>
      <vt:lpstr>報工系統-生產日報記錄表</vt:lpstr>
      <vt:lpstr>報工系統-生產日報記錄表</vt:lpstr>
      <vt:lpstr>報工系統-生產日報記錄表</vt:lpstr>
      <vt:lpstr>報工系統-生產日報記錄表</vt:lpstr>
      <vt:lpstr>報工系統-生產日報記錄表</vt:lpstr>
      <vt:lpstr>報工系統-生產日報記錄表</vt:lpstr>
      <vt:lpstr>報工系統-生產報表-Sub Lot</vt:lpstr>
      <vt:lpstr>報工系統-生產報表Lot</vt:lpstr>
      <vt:lpstr>報工系統-生產報表-IOT(一)</vt:lpstr>
      <vt:lpstr>報工系統-生產報表-IOT(二)</vt:lpstr>
      <vt:lpstr>報工系統-生產日報記錄表</vt:lpstr>
      <vt:lpstr>報工系統-生產報表-可視化(2nd)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報工系統流程-方案一</dc:title>
  <dc:creator>user</dc:creator>
  <cp:lastModifiedBy>李韋勲</cp:lastModifiedBy>
  <cp:revision>478</cp:revision>
  <dcterms:created xsi:type="dcterms:W3CDTF">2023-12-21T01:02:44Z</dcterms:created>
  <dcterms:modified xsi:type="dcterms:W3CDTF">2024-02-06T06:15:38Z</dcterms:modified>
</cp:coreProperties>
</file>